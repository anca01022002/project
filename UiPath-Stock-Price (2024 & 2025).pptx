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2_F53F6534.xml" ContentType="application/vnd.ms-powerpoint.comments+xml"/>
  <Override PartName="/ppt/comments/modernComment_103_FB65C4D8.xml" ContentType="application/vnd.ms-powerpoint.comments+xml"/>
  <Override PartName="/ppt/comments/modernComment_10B_EF2CD616.xml" ContentType="application/vnd.ms-powerpoint.comments+xml"/>
  <Override PartName="/ppt/notesSlides/notesSlide1.xml" ContentType="application/vnd.openxmlformats-officedocument.presentationml.notesSlide+xml"/>
  <Override PartName="/ppt/comments/modernComment_104_A098A2A4.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10_EC1A175F.xml" ContentType="application/vnd.ms-powerpoint.comments+xml"/>
  <Override PartName="/ppt/comments/modernComment_113_6B8CE13D.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4"/>
  </p:sldMasterIdLst>
  <p:notesMasterIdLst>
    <p:notesMasterId r:id="rId21"/>
  </p:notesMasterIdLst>
  <p:sldIdLst>
    <p:sldId id="256" r:id="rId5"/>
    <p:sldId id="257" r:id="rId6"/>
    <p:sldId id="258" r:id="rId7"/>
    <p:sldId id="259" r:id="rId8"/>
    <p:sldId id="267" r:id="rId9"/>
    <p:sldId id="260" r:id="rId10"/>
    <p:sldId id="262" r:id="rId11"/>
    <p:sldId id="264" r:id="rId12"/>
    <p:sldId id="265" r:id="rId13"/>
    <p:sldId id="266" r:id="rId14"/>
    <p:sldId id="271" r:id="rId15"/>
    <p:sldId id="269" r:id="rId16"/>
    <p:sldId id="272" r:id="rId17"/>
    <p:sldId id="273" r:id="rId18"/>
    <p:sldId id="275" r:id="rId19"/>
    <p:sldId id="276" r:id="rId20"/>
  </p:sldIdLst>
  <p:sldSz cx="12192000" cy="6858000"/>
  <p:notesSz cx="6858000" cy="9144000"/>
  <p:defaultTextStyle>
    <a:defPPr>
      <a:defRPr lang="ro-M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691005B-9092-3AF4-5755-E99DC9AF61D2}" name="Denisa" initials="D" userId="Denisa" providerId="None"/>
  <p188:author id="{95582667-6102-27E7-ED8E-01A166EB4B6B}" name="Guest User" initials="GU" userId="Guest User" providerId="Windows Live"/>
  <p188:author id="{7001E9BF-E0A7-4953-255C-963B8DB99D94}" name="denisagheorghita6@gmail.com" initials="de" userId="S::urn:spo:guest#denisagheorghita6@gmail.com::"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C60B74-2CDC-5A69-3D79-0DC08014075D}" v="2" dt="2025-11-13T08:07:29.259"/>
    <p1510:client id="{52ECFC0C-2E9C-A937-C36F-B87482C6A7B2}" v="264" dt="2025-11-12T21:26:20.705"/>
    <p1510:client id="{984ECEF3-894F-F9BA-36B2-64D5541C477A}" v="92" dt="2025-11-12T05:28:25.5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2" autoAdjust="0"/>
    <p:restoredTop sz="94660"/>
  </p:normalViewPr>
  <p:slideViewPr>
    <p:cSldViewPr snapToGrid="0">
      <p:cViewPr varScale="1">
        <p:scale>
          <a:sx n="61" d="100"/>
          <a:sy n="61" d="100"/>
        </p:scale>
        <p:origin x="8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omments/modernComment_10B_EF2CD616.xml><?xml version="1.0" encoding="utf-8"?>
<p188:cmLst xmlns:a="http://schemas.openxmlformats.org/drawingml/2006/main" xmlns:r="http://schemas.openxmlformats.org/officeDocument/2006/relationships" xmlns:p188="http://schemas.microsoft.com/office/powerpoint/2018/8/main">
  <p188:cm id="{F4523F20-1050-4274-AA2F-893A666A2066}" authorId="{95582667-6102-27E7-ED8E-01A166EB4B6B}" created="2025-11-12T18:55:13.940">
    <pc:sldMkLst xmlns:pc="http://schemas.microsoft.com/office/powerpoint/2013/main/command">
      <pc:docMk/>
      <pc:sldMk cId="4012693014" sldId="267"/>
    </pc:sldMkLst>
    <p188:txBody>
      <a:bodyPr/>
      <a:lstStyle/>
      <a:p>
        <a:r>
          <a:rPr lang="en-US"/>
          <a:t>https://ir.uipath.com/financials/sec-filings/content/0001734722-25-000023/0001734722-25-000023.pdf</a:t>
        </a:r>
      </a:p>
    </p188:txBody>
  </p188:cm>
</p188:cmLst>
</file>

<file path=ppt/comments/modernComment_102_F53F6534.xml><?xml version="1.0" encoding="utf-8"?>
<p188:cmLst xmlns:a="http://schemas.openxmlformats.org/drawingml/2006/main" xmlns:r="http://schemas.openxmlformats.org/officeDocument/2006/relationships" xmlns:p188="http://schemas.microsoft.com/office/powerpoint/2018/8/main">
  <p188:cm id="{1A04F8EC-DDE5-4490-A565-470A3A261304}" authorId="{7001E9BF-E0A7-4953-255C-963B8DB99D94}" created="2025-11-12T05:19:39.920">
    <pc:sldMkLst xmlns:pc="http://schemas.microsoft.com/office/powerpoint/2013/main/command">
      <pc:docMk/>
      <pc:sldMk cId="4114572596" sldId="258"/>
    </pc:sldMkLst>
    <p188:txBody>
      <a:bodyPr/>
      <a:lstStyle/>
      <a:p>
        <a:r>
          <a:rPr lang="en-US"/>
          <a:t>https://pe-insights.com/uipath-goes-public-in-one-of-the-biggest-us-software-ipos/</a:t>
        </a:r>
      </a:p>
    </p188:txBody>
  </p188:cm>
</p188:cmLst>
</file>

<file path=ppt/comments/modernComment_103_FB65C4D8.xml><?xml version="1.0" encoding="utf-8"?>
<p188:cmLst xmlns:a="http://schemas.openxmlformats.org/drawingml/2006/main" xmlns:r="http://schemas.openxmlformats.org/officeDocument/2006/relationships" xmlns:p188="http://schemas.microsoft.com/office/powerpoint/2018/8/main">
  <p188:cm id="{FA72D84A-B2B5-4D77-B5B8-733FA4034038}" authorId="{7001E9BF-E0A7-4953-255C-963B8DB99D94}" created="2025-11-12T05:22:47.641">
    <pc:sldMkLst xmlns:pc="http://schemas.microsoft.com/office/powerpoint/2013/main/command">
      <pc:docMk/>
      <pc:sldMk cId="4217750744" sldId="259"/>
    </pc:sldMkLst>
    <p188:txBody>
      <a:bodyPr/>
      <a:lstStyle/>
      <a:p>
        <a:r>
          <a:rPr lang="en-US"/>
          <a:t>https://blog.openocean.vc/how-uipath-found-the-model-for-scaling-faster-than-everyone-thought-possible-2fdd71004ac8</a:t>
        </a:r>
      </a:p>
    </p188:txBody>
  </p188:cm>
  <p188:cm id="{33D1A1F2-0A13-4937-9C09-54EF244FA370}" authorId="{F691005B-9092-3AF4-5755-E99DC9AF61D2}" created="2025-11-12T05:30:41.829">
    <pc:sldMkLst xmlns:pc="http://schemas.microsoft.com/office/powerpoint/2013/main/command">
      <pc:docMk/>
      <pc:sldMk cId="4217750744" sldId="259"/>
    </pc:sldMkLst>
    <p188:txBody>
      <a:bodyPr/>
      <a:lstStyle/>
      <a:p>
        <a:r>
          <a:rPr lang="en-US"/>
          <a:t>https://www.uipath.com/newsroom/uipath-named-fastest-growing-technology-company</a:t>
        </a:r>
      </a:p>
    </p188:txBody>
  </p188:cm>
</p188:cmLst>
</file>

<file path=ppt/comments/modernComment_104_A098A2A4.xml><?xml version="1.0" encoding="utf-8"?>
<p188:cmLst xmlns:a="http://schemas.openxmlformats.org/drawingml/2006/main" xmlns:r="http://schemas.openxmlformats.org/officeDocument/2006/relationships" xmlns:p188="http://schemas.microsoft.com/office/powerpoint/2018/8/main">
  <p188:cm id="{94F804B9-1DA6-4A38-AD49-D4CE2A3044B2}" authorId="{7001E9BF-E0A7-4953-255C-963B8DB99D94}" created="2025-11-12T05:26:24.161">
    <pc:sldMkLst xmlns:pc="http://schemas.microsoft.com/office/powerpoint/2013/main/command">
      <pc:docMk/>
      <pc:sldMk cId="2694357668" sldId="260"/>
    </pc:sldMkLst>
    <p188:txBody>
      <a:bodyPr/>
      <a:lstStyle/>
      <a:p>
        <a:r>
          <a:rPr lang="en-US"/>
          <a:t>https://stockanalysis.com/stocks/path/revenue/</a:t>
        </a:r>
      </a:p>
    </p188:txBody>
  </p188:cm>
</p188:cmLst>
</file>

<file path=ppt/comments/modernComment_110_EC1A175F.xml><?xml version="1.0" encoding="utf-8"?>
<p188:cmLst xmlns:a="http://schemas.openxmlformats.org/drawingml/2006/main" xmlns:r="http://schemas.openxmlformats.org/officeDocument/2006/relationships" xmlns:p188="http://schemas.microsoft.com/office/powerpoint/2018/8/main">
  <p188:cm id="{F7808D81-5A36-472A-882D-7FE102AD5028}" authorId="{95582667-6102-27E7-ED8E-01A166EB4B6B}" created="2025-11-12T20:41:12.884">
    <pc:sldMkLst xmlns:pc="http://schemas.microsoft.com/office/powerpoint/2013/main/command">
      <pc:docMk/>
      <pc:sldMk cId="3961132895" sldId="272"/>
    </pc:sldMkLst>
    <p188:txBody>
      <a:bodyPr/>
      <a:lstStyle/>
      <a:p>
        <a:r>
          <a:rPr lang="en-US"/>
          <a:t>Each blue “X” marks a UiPath quarter (2024 Q2 – 2025 Q3).
The x-axis is Revenue Growth (%) quarter-over-quarter.
The y-axis is Stock Return (%) over the same quarter.
The red dashed line is a linear trendline illustrating the correlation direction.
The title displays the calculated correlation coefficient (≈ 0.65 here — moderately positive).</a:t>
        </a:r>
      </a:p>
    </p188:txBody>
  </p188:cm>
</p188:cmLst>
</file>

<file path=ppt/comments/modernComment_113_6B8CE13D.xml><?xml version="1.0" encoding="utf-8"?>
<p188:cmLst xmlns:a="http://schemas.openxmlformats.org/drawingml/2006/main" xmlns:r="http://schemas.openxmlformats.org/officeDocument/2006/relationships" xmlns:p188="http://schemas.microsoft.com/office/powerpoint/2018/8/main">
  <p188:cm id="{6EC4C4AD-DF62-4FE3-B409-13FA0B9C52A5}" authorId="{95582667-6102-27E7-ED8E-01A166EB4B6B}" created="2025-11-12T21:23:58.613">
    <pc:sldMkLst xmlns:pc="http://schemas.microsoft.com/office/powerpoint/2013/main/command">
      <pc:docMk/>
      <pc:sldMk cId="1804394813" sldId="275"/>
    </pc:sldMkLst>
    <p188:txBody>
      <a:bodyPr/>
      <a:lstStyle/>
      <a:p>
        <a:r>
          <a:rPr lang="en-US"/>
          <a:t>https://ir.uipath.com/news/detail/381/uipath-reports-fourth-quarter-and-full-year-fiscal-2025-financial-results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766EB-7742-493D-9B3A-C7D884DEC862}"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93868-0BE9-4328-AE85-86D50F7431DB}" type="slidenum">
              <a:rPr lang="en-US" smtClean="0"/>
              <a:t>‹#›</a:t>
            </a:fld>
            <a:endParaRPr lang="en-US"/>
          </a:p>
        </p:txBody>
      </p:sp>
    </p:spTree>
    <p:extLst>
      <p:ext uri="{BB962C8B-B14F-4D97-AF65-F5344CB8AC3E}">
        <p14:creationId xmlns:p14="http://schemas.microsoft.com/office/powerpoint/2010/main" val="1944848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993868-0BE9-4328-AE85-86D50F7431DB}" type="slidenum">
              <a:rPr lang="en-US" smtClean="0"/>
              <a:t>6</a:t>
            </a:fld>
            <a:endParaRPr lang="en-US"/>
          </a:p>
        </p:txBody>
      </p:sp>
    </p:spTree>
    <p:extLst>
      <p:ext uri="{BB962C8B-B14F-4D97-AF65-F5344CB8AC3E}">
        <p14:creationId xmlns:p14="http://schemas.microsoft.com/office/powerpoint/2010/main" val="3214490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993868-0BE9-4328-AE85-86D50F7431DB}" type="slidenum">
              <a:rPr lang="en-US" smtClean="0"/>
              <a:t>7</a:t>
            </a:fld>
            <a:endParaRPr lang="en-US"/>
          </a:p>
        </p:txBody>
      </p:sp>
    </p:spTree>
    <p:extLst>
      <p:ext uri="{BB962C8B-B14F-4D97-AF65-F5344CB8AC3E}">
        <p14:creationId xmlns:p14="http://schemas.microsoft.com/office/powerpoint/2010/main" val="230941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993868-0BE9-4328-AE85-86D50F7431DB}" type="slidenum">
              <a:rPr lang="en-US" smtClean="0"/>
              <a:t>8</a:t>
            </a:fld>
            <a:endParaRPr lang="en-US"/>
          </a:p>
        </p:txBody>
      </p:sp>
    </p:spTree>
    <p:extLst>
      <p:ext uri="{BB962C8B-B14F-4D97-AF65-F5344CB8AC3E}">
        <p14:creationId xmlns:p14="http://schemas.microsoft.com/office/powerpoint/2010/main" val="3029180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993868-0BE9-4328-AE85-86D50F7431DB}" type="slidenum">
              <a:rPr lang="en-US" smtClean="0"/>
              <a:t>9</a:t>
            </a:fld>
            <a:endParaRPr lang="en-US"/>
          </a:p>
        </p:txBody>
      </p:sp>
    </p:spTree>
    <p:extLst>
      <p:ext uri="{BB962C8B-B14F-4D97-AF65-F5344CB8AC3E}">
        <p14:creationId xmlns:p14="http://schemas.microsoft.com/office/powerpoint/2010/main" val="2542983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pPr algn="l"/>
            <a:fld id="{0DCFB061-4267-4D9F-8017-6F550D3068DF}" type="datetime1">
              <a:rPr lang="en-US" smtClean="0"/>
              <a:t>11/13/2025</a:t>
            </a:fld>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pPr algn="l"/>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858547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2721038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fld id="{29CABC0C-B6DF-45E9-B954-11C99AA62C3E}" type="datetime1">
              <a:rPr lang="en-US" smtClean="0"/>
              <a:t>11/13/2025</a:t>
            </a:fld>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1254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B71B9-2624-4F21-93EE-35A78B1A0DAD}" type="datetime1">
              <a:rPr lang="en-US" smtClean="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dirty="0"/>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67514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D37C2A-BE2E-4840-A907-3254E2916C96}" type="datetime1">
              <a:rPr lang="en-US" smtClean="0"/>
              <a:t>11/13/2025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dirty="0"/>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8037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11/13/2025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2890531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11/13/2025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745638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fld id="{61A2E4C8-2960-4ADD-862C-4D9643CB15AC}" type="datetime1">
              <a:rPr lang="en-US" smtClean="0"/>
              <a:t>11/13/2025</a:t>
            </a:fld>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644034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fld id="{48BDEA15-09CD-4275-A8E0-385C965F48B0}" type="datetime1">
              <a:rPr lang="en-US" smtClean="0"/>
              <a:t>11/13/2025</a:t>
            </a:fld>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p>
        </p:txBody>
      </p:sp>
    </p:spTree>
    <p:extLst>
      <p:ext uri="{BB962C8B-B14F-4D97-AF65-F5344CB8AC3E}">
        <p14:creationId xmlns:p14="http://schemas.microsoft.com/office/powerpoint/2010/main" val="2807013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1BC61-5547-4A60-8DA1-6699760D9972}"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3684982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24B9D1C6-60D0-4CD1-8F31-F912522EB041}" type="datetime1">
              <a:rPr lang="en-US" smtClean="0"/>
              <a:t>11/13/2025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dirty="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488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fld id="{4AF8082C-0922-4249-A612-B415F5231620}" type="datetime1">
              <a:rPr lang="en-US" smtClean="0"/>
              <a:t>11/13/2025</a:t>
            </a:fld>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6869244"/>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2" r:id="rId6"/>
    <p:sldLayoutId id="2147483738" r:id="rId7"/>
    <p:sldLayoutId id="2147483739" r:id="rId8"/>
    <p:sldLayoutId id="2147483740" r:id="rId9"/>
    <p:sldLayoutId id="2147483741" r:id="rId10"/>
    <p:sldLayoutId id="2147483743" r:id="rId11"/>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2_F53F6534.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blog.openocean.vc/how-uipath-found-the-model-for-scaling-faster-than-everyone-thought-possible-2fdd71004ac8" TargetMode="External"/><Relationship Id="rId2" Type="http://schemas.microsoft.com/office/2018/10/relationships/comments" Target="../comments/modernComment_103_FB65C4D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0B_EF2CD61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4_A098A2A4.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10_EC1A175F.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113_6B8CE13D.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0904" y="0"/>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95508"/>
            <a:ext cx="7582419"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42F62AA1-6CB5-2A25-E57E-5F1880F53BF0}"/>
              </a:ext>
            </a:extLst>
          </p:cNvPr>
          <p:cNvSpPr>
            <a:spLocks noGrp="1"/>
          </p:cNvSpPr>
          <p:nvPr>
            <p:ph type="ctrTitle"/>
          </p:nvPr>
        </p:nvSpPr>
        <p:spPr>
          <a:xfrm>
            <a:off x="877122" y="1430130"/>
            <a:ext cx="5837464" cy="3311479"/>
          </a:xfrm>
        </p:spPr>
        <p:txBody>
          <a:bodyPr anchor="b">
            <a:normAutofit/>
          </a:bodyPr>
          <a:lstStyle/>
          <a:p>
            <a:pPr>
              <a:lnSpc>
                <a:spcPct val="115000"/>
              </a:lnSpc>
            </a:pPr>
            <a:r>
              <a:rPr lang="ro-MD" sz="5100" dirty="0">
                <a:solidFill>
                  <a:schemeClr val="tx2"/>
                </a:solidFill>
                <a:latin typeface="Arial"/>
                <a:cs typeface="Arial"/>
              </a:rPr>
              <a:t>UiPath stock price analysis 2024-2025</a:t>
            </a:r>
          </a:p>
        </p:txBody>
      </p:sp>
      <p:sp>
        <p:nvSpPr>
          <p:cNvPr id="3" name="Subtitlu 2">
            <a:extLst>
              <a:ext uri="{FF2B5EF4-FFF2-40B4-BE49-F238E27FC236}">
                <a16:creationId xmlns:a16="http://schemas.microsoft.com/office/drawing/2014/main" id="{A832AFD9-1827-E93F-F312-A32A8E61C45E}"/>
              </a:ext>
            </a:extLst>
          </p:cNvPr>
          <p:cNvSpPr>
            <a:spLocks noGrp="1"/>
          </p:cNvSpPr>
          <p:nvPr>
            <p:ph type="subTitle" idx="1"/>
          </p:nvPr>
        </p:nvSpPr>
        <p:spPr>
          <a:xfrm>
            <a:off x="880533" y="4741608"/>
            <a:ext cx="5834053" cy="958441"/>
          </a:xfrm>
        </p:spPr>
        <p:txBody>
          <a:bodyPr anchor="t">
            <a:normAutofit/>
          </a:bodyPr>
          <a:lstStyle/>
          <a:p>
            <a:pPr>
              <a:lnSpc>
                <a:spcPct val="140000"/>
              </a:lnSpc>
            </a:pPr>
            <a:r>
              <a:rPr lang="ro-MD" sz="1500" dirty="0">
                <a:solidFill>
                  <a:schemeClr val="tx2"/>
                </a:solidFill>
              </a:rPr>
              <a:t>Students: GHEORG</a:t>
            </a:r>
            <a:r>
              <a:rPr lang="en-US" sz="1500" dirty="0">
                <a:solidFill>
                  <a:schemeClr val="tx2"/>
                </a:solidFill>
              </a:rPr>
              <a:t>H</a:t>
            </a:r>
            <a:r>
              <a:rPr lang="ro-MD" sz="1500" dirty="0">
                <a:solidFill>
                  <a:schemeClr val="tx2"/>
                </a:solidFill>
              </a:rPr>
              <a:t>ITA DENISA-ELENA</a:t>
            </a:r>
          </a:p>
          <a:p>
            <a:pPr>
              <a:lnSpc>
                <a:spcPct val="140000"/>
              </a:lnSpc>
            </a:pPr>
            <a:r>
              <a:rPr lang="ro-MD" sz="1500" dirty="0">
                <a:solidFill>
                  <a:schemeClr val="tx2"/>
                </a:solidFill>
              </a:rPr>
              <a:t>              NEMERENCO ANA</a:t>
            </a:r>
          </a:p>
          <a:p>
            <a:pPr>
              <a:lnSpc>
                <a:spcPct val="140000"/>
              </a:lnSpc>
            </a:pPr>
            <a:endParaRPr lang="ro-MD" sz="1500" dirty="0">
              <a:solidFill>
                <a:schemeClr val="tx2"/>
              </a:solidFill>
            </a:endParaRPr>
          </a:p>
        </p:txBody>
      </p:sp>
      <p:pic>
        <p:nvPicPr>
          <p:cNvPr id="15" name="Picture 3" descr="O imagine care conține cer, nor, albastru, captură de ecran&#10;&#10;Conținutul generat de inteligența artificială poate fi incorect.">
            <a:extLst>
              <a:ext uri="{FF2B5EF4-FFF2-40B4-BE49-F238E27FC236}">
                <a16:creationId xmlns:a16="http://schemas.microsoft.com/office/drawing/2014/main" id="{47AC088D-F831-FE83-FFCD-461AA6571D3C}"/>
              </a:ext>
            </a:extLst>
          </p:cNvPr>
          <p:cNvPicPr>
            <a:picLocks noChangeAspect="1"/>
          </p:cNvPicPr>
          <p:nvPr/>
        </p:nvPicPr>
        <p:blipFill>
          <a:blip r:embed="rId2"/>
          <a:srcRect l="17630" r="14226" b="3"/>
          <a:stretch>
            <a:fillRect/>
          </a:stretch>
        </p:blipFill>
        <p:spPr>
          <a:xfrm>
            <a:off x="7585467" y="1074544"/>
            <a:ext cx="4606533" cy="5069861"/>
          </a:xfrm>
          <a:prstGeom prst="rect">
            <a:avLst/>
          </a:prstGeom>
        </p:spPr>
      </p:pic>
      <p:sp>
        <p:nvSpPr>
          <p:cNvPr id="27" name="Rectangle 26">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7534656"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85AAE23-FCB6-4663-907C-0110B0FDC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8849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B2B14-3CD4-6ABB-C2F7-5F684BD2DAAD}"/>
              </a:ext>
            </a:extLst>
          </p:cNvPr>
          <p:cNvSpPr>
            <a:spLocks noGrp="1"/>
          </p:cNvSpPr>
          <p:nvPr>
            <p:ph type="title"/>
          </p:nvPr>
        </p:nvSpPr>
        <p:spPr>
          <a:xfrm>
            <a:off x="642918" y="705113"/>
            <a:ext cx="3805263" cy="2889425"/>
          </a:xfrm>
        </p:spPr>
        <p:txBody>
          <a:bodyPr/>
          <a:lstStyle/>
          <a:p>
            <a:pPr algn="ctr"/>
            <a:r>
              <a:rPr lang="en-US" dirty="0">
                <a:latin typeface="Arial"/>
                <a:ea typeface="Meiryo"/>
                <a:cs typeface="Arial"/>
              </a:rPr>
              <a:t>1. Introduction</a:t>
            </a:r>
            <a:br>
              <a:rPr lang="en-US" dirty="0">
                <a:latin typeface="Arial"/>
                <a:ea typeface="Meiryo"/>
              </a:rPr>
            </a:br>
            <a:r>
              <a:rPr lang="en-US" sz="1600" b="0" dirty="0">
                <a:solidFill>
                  <a:srgbClr val="458862"/>
                </a:solidFill>
                <a:latin typeface="Arial"/>
                <a:cs typeface="Arial"/>
              </a:rPr>
              <a:t>Literature review, Research Question &amp; Methodology</a:t>
            </a:r>
            <a:endParaRPr lang="en-US" dirty="0">
              <a:latin typeface="Arial"/>
              <a:ea typeface="Meiryo"/>
              <a:cs typeface="Arial"/>
            </a:endParaRPr>
          </a:p>
        </p:txBody>
      </p:sp>
      <p:sp>
        <p:nvSpPr>
          <p:cNvPr id="3" name="Content Placeholder 2">
            <a:extLst>
              <a:ext uri="{FF2B5EF4-FFF2-40B4-BE49-F238E27FC236}">
                <a16:creationId xmlns:a16="http://schemas.microsoft.com/office/drawing/2014/main" id="{F3EA450E-B7FE-4301-99F1-7D52109E66F0}"/>
              </a:ext>
            </a:extLst>
          </p:cNvPr>
          <p:cNvSpPr>
            <a:spLocks noGrp="1"/>
          </p:cNvSpPr>
          <p:nvPr>
            <p:ph idx="1"/>
          </p:nvPr>
        </p:nvSpPr>
        <p:spPr>
          <a:xfrm>
            <a:off x="4737575" y="705113"/>
            <a:ext cx="7450604" cy="5197497"/>
          </a:xfrm>
        </p:spPr>
        <p:txBody>
          <a:bodyPr>
            <a:normAutofit fontScale="85000" lnSpcReduction="10000"/>
          </a:bodyPr>
          <a:lstStyle/>
          <a:p>
            <a:r>
              <a:rPr lang="en-US" b="0" dirty="0">
                <a:latin typeface="Arial"/>
                <a:ea typeface="+mn-lt"/>
                <a:cs typeface="+mn-lt"/>
              </a:rPr>
              <a:t>In recent years, automation and artificial intelligence have become central to how companies operate and innovate, and UiPath stands out as one of the leading players in this transformation. </a:t>
            </a:r>
            <a:endParaRPr lang="en-US" dirty="0">
              <a:latin typeface="Arial"/>
              <a:ea typeface="+mn-lt"/>
              <a:cs typeface="+mn-lt"/>
            </a:endParaRPr>
          </a:p>
          <a:p>
            <a:endParaRPr lang="en-US" b="0" dirty="0">
              <a:latin typeface="Arial"/>
              <a:ea typeface="+mn-lt"/>
              <a:cs typeface="+mn-lt"/>
            </a:endParaRPr>
          </a:p>
          <a:p>
            <a:r>
              <a:rPr lang="en-US" b="0" dirty="0">
                <a:latin typeface="Arial"/>
                <a:ea typeface="+mn-lt"/>
                <a:cs typeface="+mn-lt"/>
              </a:rPr>
              <a:t>We chose to analyze the UiPath stock price in 2024 because it provides valuable insight into how the market perceives the growth and stability of the automation industry during a period marked by rapid technological advancement and economic uncertainty. </a:t>
            </a:r>
            <a:endParaRPr lang="en-US" dirty="0">
              <a:latin typeface="Arial"/>
              <a:ea typeface="+mn-lt"/>
              <a:cs typeface="+mn-lt"/>
            </a:endParaRPr>
          </a:p>
          <a:p>
            <a:endParaRPr lang="en-US" b="0" dirty="0">
              <a:latin typeface="Arial"/>
              <a:ea typeface="+mn-lt"/>
              <a:cs typeface="+mn-lt"/>
            </a:endParaRPr>
          </a:p>
          <a:p>
            <a:r>
              <a:rPr lang="en-US" b="0" dirty="0">
                <a:latin typeface="Arial"/>
                <a:ea typeface="+mn-lt"/>
                <a:cs typeface="+mn-lt"/>
              </a:rPr>
              <a:t>By examining UiPath’s financial performance, trends, and volatility, we aim to understand not only the company’s position in the tech sector but also how investor confidence and global market dynamics influenced its valuation throughout 2 last years.</a:t>
            </a:r>
            <a:endParaRPr lang="en-US" dirty="0">
              <a:latin typeface="Arial"/>
              <a:ea typeface="Meiryo"/>
              <a:cs typeface="Arial"/>
            </a:endParaRPr>
          </a:p>
        </p:txBody>
      </p:sp>
      <p:pic>
        <p:nvPicPr>
          <p:cNvPr id="5" name="Picture 4">
            <a:extLst>
              <a:ext uri="{FF2B5EF4-FFF2-40B4-BE49-F238E27FC236}">
                <a16:creationId xmlns:a16="http://schemas.microsoft.com/office/drawing/2014/main" id="{36FB7427-9201-4AF8-A6A2-61CCD4DF28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612" y="3429000"/>
            <a:ext cx="2857500" cy="1600200"/>
          </a:xfrm>
          <a:prstGeom prst="rect">
            <a:avLst/>
          </a:prstGeom>
        </p:spPr>
      </p:pic>
    </p:spTree>
    <p:extLst>
      <p:ext uri="{BB962C8B-B14F-4D97-AF65-F5344CB8AC3E}">
        <p14:creationId xmlns:p14="http://schemas.microsoft.com/office/powerpoint/2010/main" val="1547354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9" name="Rectangle 28">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descr="A group of people standing in front of a large sign&#10;&#10;AI-generated content may be incorrect.">
            <a:extLst>
              <a:ext uri="{FF2B5EF4-FFF2-40B4-BE49-F238E27FC236}">
                <a16:creationId xmlns:a16="http://schemas.microsoft.com/office/drawing/2014/main" id="{93461FAA-CDCC-2DB0-5CD5-9DF310AC2838}"/>
              </a:ext>
            </a:extLst>
          </p:cNvPr>
          <p:cNvPicPr>
            <a:picLocks noGrp="1" noChangeAspect="1"/>
          </p:cNvPicPr>
          <p:nvPr>
            <p:ph idx="1"/>
          </p:nvPr>
        </p:nvPicPr>
        <p:blipFill>
          <a:blip r:embed="rId3"/>
          <a:srcRect t="15063" r="-1" b="15043"/>
          <a:stretch>
            <a:fillRect/>
          </a:stretch>
        </p:blipFill>
        <p:spPr>
          <a:xfrm>
            <a:off x="3050" y="10"/>
            <a:ext cx="12188950" cy="6857990"/>
          </a:xfrm>
          <a:prstGeom prst="rect">
            <a:avLst/>
          </a:prstGeom>
        </p:spPr>
      </p:pic>
      <p:sp>
        <p:nvSpPr>
          <p:cNvPr id="33" name="Rectangle 32">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5508"/>
            <a:ext cx="4668819"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06BBF4-2C0D-7199-6AA3-998F4C64A0DF}"/>
              </a:ext>
            </a:extLst>
          </p:cNvPr>
          <p:cNvSpPr>
            <a:spLocks noGrp="1"/>
          </p:cNvSpPr>
          <p:nvPr>
            <p:ph type="title"/>
          </p:nvPr>
        </p:nvSpPr>
        <p:spPr>
          <a:xfrm>
            <a:off x="68660" y="3192493"/>
            <a:ext cx="4602703" cy="2528515"/>
          </a:xfrm>
        </p:spPr>
        <p:txBody>
          <a:bodyPr vert="horz" lIns="109728" tIns="109728" rIns="109728" bIns="91440" rtlCol="0" anchor="b">
            <a:noAutofit/>
          </a:bodyPr>
          <a:lstStyle/>
          <a:p>
            <a:pPr>
              <a:lnSpc>
                <a:spcPct val="115000"/>
              </a:lnSpc>
            </a:pPr>
            <a:r>
              <a:rPr lang="en-US" sz="1200" b="0" dirty="0">
                <a:solidFill>
                  <a:schemeClr val="bg1"/>
                </a:solidFill>
                <a:latin typeface="Arial"/>
                <a:cs typeface="Arial"/>
              </a:rPr>
              <a:t>We found extensive research showing that </a:t>
            </a:r>
            <a:r>
              <a:rPr lang="en-US" sz="1200" b="0" dirty="0" err="1">
                <a:solidFill>
                  <a:schemeClr val="bg1"/>
                </a:solidFill>
                <a:latin typeface="Arial"/>
                <a:cs typeface="Arial"/>
              </a:rPr>
              <a:t>Uipath’s</a:t>
            </a:r>
            <a:r>
              <a:rPr lang="en-US" sz="1200" b="0" dirty="0">
                <a:solidFill>
                  <a:schemeClr val="bg1"/>
                </a:solidFill>
                <a:latin typeface="Arial"/>
                <a:cs typeface="Arial"/>
              </a:rPr>
              <a:t> growth and stock performance are strongly influenced by broader market trends and investor sentiment toward automation and AI technologies. </a:t>
            </a:r>
            <a:br>
              <a:rPr lang="en-US" sz="1200" b="0" dirty="0">
                <a:latin typeface="Arial"/>
              </a:rPr>
            </a:br>
            <a:br>
              <a:rPr lang="en-US" sz="1200" b="0" dirty="0">
                <a:latin typeface="Arial"/>
              </a:rPr>
            </a:br>
            <a:r>
              <a:rPr lang="en-US" sz="1200" b="0" dirty="0">
                <a:solidFill>
                  <a:schemeClr val="bg1"/>
                </a:solidFill>
                <a:latin typeface="Arial"/>
                <a:cs typeface="Arial"/>
              </a:rPr>
              <a:t>In its early years, rapid revenue growth and innovation played a key role in boosting investor confidence. However, after reaching a certain level of market maturity, other factors became more relevant—such as profitability, competition, and long-term sustainability. As the automation industry evolves, </a:t>
            </a:r>
            <a:r>
              <a:rPr lang="en-US" sz="1200" b="0" dirty="0" err="1">
                <a:solidFill>
                  <a:schemeClr val="bg1"/>
                </a:solidFill>
                <a:latin typeface="Arial"/>
                <a:cs typeface="Arial"/>
              </a:rPr>
              <a:t>uipath’s</a:t>
            </a:r>
            <a:r>
              <a:rPr lang="en-US" sz="1200" b="0" dirty="0">
                <a:solidFill>
                  <a:schemeClr val="bg1"/>
                </a:solidFill>
                <a:latin typeface="Arial"/>
                <a:cs typeface="Arial"/>
              </a:rPr>
              <a:t> valuation depends less on short-term hype and more on its ability to maintain consistent growth, efficiency, and leadership in the ai-driven enterprise software sector.</a:t>
            </a:r>
          </a:p>
        </p:txBody>
      </p:sp>
      <p:sp>
        <p:nvSpPr>
          <p:cNvPr id="35" name="Rectangle 34">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6534"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25BFC9CF-59DC-4EC6-9916-83CE793FC392}"/>
              </a:ext>
            </a:extLst>
          </p:cNvPr>
          <p:cNvSpPr txBox="1">
            <a:spLocks/>
          </p:cNvSpPr>
          <p:nvPr/>
        </p:nvSpPr>
        <p:spPr>
          <a:xfrm>
            <a:off x="358357" y="6057859"/>
            <a:ext cx="4335432" cy="623038"/>
          </a:xfrm>
          <a:prstGeom prst="rect">
            <a:avLst/>
          </a:prstGeom>
        </p:spPr>
        <p:txBody>
          <a:bodyPr vert="horz" lIns="109728" tIns="109728" rIns="109728" bIns="91440" rtlCol="0" anchor="ct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sz="1000" b="0" dirty="0">
                <a:solidFill>
                  <a:schemeClr val="bg1"/>
                </a:solidFill>
                <a:effectLst/>
                <a:latin typeface="Arial" panose="020B0604020202020204" pitchFamily="34" charset="0"/>
                <a:cs typeface="Arial" panose="020B0604020202020204" pitchFamily="34" charset="0"/>
              </a:rPr>
              <a:t>1. https://pe-insights.com/uipath-goes-public-in-one-of-the-biggest-us-software-ipos/</a:t>
            </a:r>
          </a:p>
        </p:txBody>
      </p:sp>
    </p:spTree>
    <p:extLst>
      <p:ext uri="{BB962C8B-B14F-4D97-AF65-F5344CB8AC3E}">
        <p14:creationId xmlns:p14="http://schemas.microsoft.com/office/powerpoint/2010/main" val="4114572596"/>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763A7-76C3-E916-1FC6-824DEC19F8B3}"/>
              </a:ext>
            </a:extLst>
          </p:cNvPr>
          <p:cNvSpPr>
            <a:spLocks noGrp="1"/>
          </p:cNvSpPr>
          <p:nvPr>
            <p:ph type="title"/>
          </p:nvPr>
        </p:nvSpPr>
        <p:spPr>
          <a:xfrm>
            <a:off x="283689" y="705113"/>
            <a:ext cx="3950853" cy="5197498"/>
          </a:xfrm>
        </p:spPr>
        <p:txBody>
          <a:bodyPr>
            <a:normAutofit/>
          </a:bodyPr>
          <a:lstStyle/>
          <a:p>
            <a:r>
              <a:rPr lang="en-US" sz="2500" i="1" dirty="0">
                <a:solidFill>
                  <a:srgbClr val="242424"/>
                </a:solidFill>
                <a:latin typeface="Arial"/>
                <a:ea typeface="+mj-lt"/>
                <a:cs typeface="+mj-lt"/>
              </a:rPr>
              <a:t>The fastest growing enterprise software company ever</a:t>
            </a:r>
            <a:endParaRPr lang="en-US" sz="2500" dirty="0">
              <a:latin typeface="Arial"/>
              <a:cs typeface="Arial"/>
            </a:endParaRPr>
          </a:p>
        </p:txBody>
      </p:sp>
      <p:sp>
        <p:nvSpPr>
          <p:cNvPr id="3" name="Content Placeholder 2">
            <a:extLst>
              <a:ext uri="{FF2B5EF4-FFF2-40B4-BE49-F238E27FC236}">
                <a16:creationId xmlns:a16="http://schemas.microsoft.com/office/drawing/2014/main" id="{40E1DF25-AE56-D111-DE80-94EC616AA77B}"/>
              </a:ext>
            </a:extLst>
          </p:cNvPr>
          <p:cNvSpPr>
            <a:spLocks noGrp="1"/>
          </p:cNvSpPr>
          <p:nvPr>
            <p:ph idx="1"/>
          </p:nvPr>
        </p:nvSpPr>
        <p:spPr/>
        <p:txBody>
          <a:bodyPr>
            <a:normAutofit fontScale="92500" lnSpcReduction="10000"/>
          </a:bodyPr>
          <a:lstStyle/>
          <a:p>
            <a:r>
              <a:rPr lang="en-US" b="0" dirty="0">
                <a:ea typeface="+mn-lt"/>
                <a:cs typeface="+mn-lt"/>
              </a:rPr>
              <a:t>UiPath grew from $1M in revenue in 2015 to over $200M in annual recurring revenue within just a few years.</a:t>
            </a:r>
            <a:endParaRPr lang="en-US" dirty="0">
              <a:ea typeface="+mn-lt"/>
              <a:cs typeface="+mn-lt"/>
            </a:endParaRPr>
          </a:p>
          <a:p>
            <a:r>
              <a:rPr lang="en-US" b="0" dirty="0">
                <a:ea typeface="+mn-lt"/>
                <a:cs typeface="+mn-lt"/>
              </a:rPr>
              <a:t>Initially underestimated by many investors, UiPath’s success came from its visionary leadership, flexible technology, and strong focus on customer needs.</a:t>
            </a:r>
            <a:endParaRPr lang="en-US" dirty="0">
              <a:ea typeface="+mn-lt"/>
              <a:cs typeface="+mn-lt"/>
            </a:endParaRPr>
          </a:p>
          <a:p>
            <a:endParaRPr lang="en-US" b="0" dirty="0">
              <a:ea typeface="+mn-lt"/>
              <a:cs typeface="+mn-lt"/>
            </a:endParaRPr>
          </a:p>
          <a:p>
            <a:r>
              <a:rPr lang="en-US" b="0" dirty="0">
                <a:ea typeface="+mn-lt"/>
                <a:cs typeface="+mn-lt"/>
              </a:rPr>
              <a:t>The company’s strategy building local sales teams, launching a free community edition, and creating UiPath Academy fueled global adoption and rapid scaling, turning a small Romanian startup into a global automation leader.</a:t>
            </a:r>
            <a:endParaRPr lang="en-US" dirty="0">
              <a:ea typeface="Meiryo"/>
            </a:endParaRPr>
          </a:p>
        </p:txBody>
      </p:sp>
      <p:sp>
        <p:nvSpPr>
          <p:cNvPr id="4" name="Content Placeholder 2">
            <a:extLst>
              <a:ext uri="{FF2B5EF4-FFF2-40B4-BE49-F238E27FC236}">
                <a16:creationId xmlns:a16="http://schemas.microsoft.com/office/drawing/2014/main" id="{78C3F3B5-11B1-4C9C-B02B-E5A2E5E61DAE}"/>
              </a:ext>
            </a:extLst>
          </p:cNvPr>
          <p:cNvSpPr txBox="1">
            <a:spLocks/>
          </p:cNvSpPr>
          <p:nvPr/>
        </p:nvSpPr>
        <p:spPr>
          <a:xfrm>
            <a:off x="5376671" y="5902610"/>
            <a:ext cx="6172411" cy="1036697"/>
          </a:xfrm>
          <a:prstGeom prst="rect">
            <a:avLst/>
          </a:prstGeom>
        </p:spPr>
        <p:txBody>
          <a:bodyPr vert="horz" lIns="109728" tIns="109728" rIns="109728" bIns="91440" rtlCol="0" anchor="ctr">
            <a:normAutofit fontScale="77500" lnSpcReduction="20000"/>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sz="1200" b="0" dirty="0">
                <a:effectLst/>
                <a:latin typeface="Arial" panose="020B0604020202020204" pitchFamily="34" charset="0"/>
                <a:cs typeface="Arial" panose="020B0604020202020204" pitchFamily="34" charset="0"/>
                <a:hlinkClick r:id="rId3"/>
              </a:rPr>
              <a:t>1. https://blog.openocean.vc/how-uipath-found-the-model-for-scaling-faster-than-everyone-thought-possible-2fdd71004ac8</a:t>
            </a:r>
            <a:endParaRPr lang="en-US" sz="1200" b="0" dirty="0">
              <a:effectLst/>
              <a:latin typeface="Arial" panose="020B0604020202020204" pitchFamily="34" charset="0"/>
              <a:cs typeface="Arial" panose="020B0604020202020204" pitchFamily="34" charset="0"/>
            </a:endParaRPr>
          </a:p>
          <a:p>
            <a:r>
              <a:rPr lang="en-US" sz="1200" b="0" dirty="0">
                <a:latin typeface="Arial" panose="020B0604020202020204" pitchFamily="34" charset="0"/>
                <a:cs typeface="Arial" panose="020B0604020202020204" pitchFamily="34" charset="0"/>
              </a:rPr>
              <a:t>2. https://www.uipath.com/newsroom/uipath-named-fastest-growing-technology-company</a:t>
            </a:r>
          </a:p>
          <a:p>
            <a:endParaRPr lang="en-US" sz="1200" b="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7750744"/>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D5D6C-E464-777A-2EBA-F0C6BDC36EFF}"/>
              </a:ext>
            </a:extLst>
          </p:cNvPr>
          <p:cNvSpPr>
            <a:spLocks noGrp="1"/>
          </p:cNvSpPr>
          <p:nvPr>
            <p:ph type="title"/>
          </p:nvPr>
        </p:nvSpPr>
        <p:spPr/>
        <p:txBody>
          <a:bodyPr>
            <a:normAutofit/>
          </a:bodyPr>
          <a:lstStyle/>
          <a:p>
            <a:pPr algn="ctr"/>
            <a:r>
              <a:rPr lang="en-US" sz="2800" dirty="0">
                <a:ea typeface="Meiryo"/>
              </a:rPr>
              <a:t>Sales and marketing expenses</a:t>
            </a:r>
            <a:endParaRPr lang="en-US" sz="2800">
              <a:ea typeface="Meiryo"/>
            </a:endParaRPr>
          </a:p>
        </p:txBody>
      </p:sp>
      <p:pic>
        <p:nvPicPr>
          <p:cNvPr id="4" name="Content Placeholder 3">
            <a:extLst>
              <a:ext uri="{FF2B5EF4-FFF2-40B4-BE49-F238E27FC236}">
                <a16:creationId xmlns:a16="http://schemas.microsoft.com/office/drawing/2014/main" id="{4279601E-F84F-63CF-0B24-196D53C2AFED}"/>
              </a:ext>
            </a:extLst>
          </p:cNvPr>
          <p:cNvPicPr>
            <a:picLocks noGrp="1" noChangeAspect="1"/>
          </p:cNvPicPr>
          <p:nvPr>
            <p:ph idx="1"/>
          </p:nvPr>
        </p:nvPicPr>
        <p:blipFill>
          <a:blip r:embed="rId3"/>
          <a:stretch>
            <a:fillRect/>
          </a:stretch>
        </p:blipFill>
        <p:spPr>
          <a:xfrm>
            <a:off x="5002985" y="1445771"/>
            <a:ext cx="6744729" cy="3716180"/>
          </a:xfrm>
          <a:prstGeom prst="rect">
            <a:avLst/>
          </a:prstGeom>
        </p:spPr>
      </p:pic>
    </p:spTree>
    <p:extLst>
      <p:ext uri="{BB962C8B-B14F-4D97-AF65-F5344CB8AC3E}">
        <p14:creationId xmlns:p14="http://schemas.microsoft.com/office/powerpoint/2010/main" val="4012693014"/>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932FF329-3A87-4F66-BA01-91CD63C81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4420926" cy="68381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hart&#10;&#10;AI-generated content may be incorrect.">
            <a:extLst>
              <a:ext uri="{FF2B5EF4-FFF2-40B4-BE49-F238E27FC236}">
                <a16:creationId xmlns:a16="http://schemas.microsoft.com/office/drawing/2014/main" id="{00A1758A-21F4-134B-AEAB-97134B82E10C}"/>
              </a:ext>
            </a:extLst>
          </p:cNvPr>
          <p:cNvPicPr>
            <a:picLocks noChangeAspect="1"/>
          </p:cNvPicPr>
          <p:nvPr/>
        </p:nvPicPr>
        <p:blipFill>
          <a:blip r:embed="rId4"/>
          <a:stretch>
            <a:fillRect/>
          </a:stretch>
        </p:blipFill>
        <p:spPr>
          <a:xfrm>
            <a:off x="-708" y="1316256"/>
            <a:ext cx="4422624" cy="4442464"/>
          </a:xfrm>
          <a:prstGeom prst="rect">
            <a:avLst/>
          </a:prstGeom>
        </p:spPr>
      </p:pic>
      <p:sp>
        <p:nvSpPr>
          <p:cNvPr id="41" name="Rectangle 40">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146359"/>
            <a:ext cx="4426072" cy="7116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748578"/>
            <a:ext cx="7765922" cy="541903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1">
            <a:extLst>
              <a:ext uri="{FF2B5EF4-FFF2-40B4-BE49-F238E27FC236}">
                <a16:creationId xmlns:a16="http://schemas.microsoft.com/office/drawing/2014/main" id="{0A751C75-9B91-61FB-1760-3FF3FA0E0241}"/>
              </a:ext>
            </a:extLst>
          </p:cNvPr>
          <p:cNvSpPr>
            <a:spLocks noGrp="1"/>
          </p:cNvSpPr>
          <p:nvPr>
            <p:ph type="title"/>
          </p:nvPr>
        </p:nvSpPr>
        <p:spPr>
          <a:xfrm>
            <a:off x="4919472" y="1056362"/>
            <a:ext cx="6627226" cy="1154102"/>
          </a:xfrm>
        </p:spPr>
        <p:txBody>
          <a:bodyPr>
            <a:noAutofit/>
          </a:bodyPr>
          <a:lstStyle/>
          <a:p>
            <a:r>
              <a:rPr lang="en-US" sz="2500" b="0" dirty="0">
                <a:ea typeface="+mj-lt"/>
                <a:cs typeface="+mj-lt"/>
              </a:rPr>
              <a:t>Automation at Scale: Tracking UiPath’s Revenue Evolution </a:t>
            </a:r>
            <a:endParaRPr lang="en-US" sz="2500" dirty="0"/>
          </a:p>
        </p:txBody>
      </p:sp>
      <p:sp>
        <p:nvSpPr>
          <p:cNvPr id="44" name="Rectangle 43">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8774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ontent Placeholder 7">
            <a:extLst>
              <a:ext uri="{FF2B5EF4-FFF2-40B4-BE49-F238E27FC236}">
                <a16:creationId xmlns:a16="http://schemas.microsoft.com/office/drawing/2014/main" id="{8F20BD1A-73A3-0CBD-4EEA-13AC90358DE7}"/>
              </a:ext>
            </a:extLst>
          </p:cNvPr>
          <p:cNvSpPr>
            <a:spLocks noGrp="1"/>
          </p:cNvSpPr>
          <p:nvPr>
            <p:ph idx="1"/>
          </p:nvPr>
        </p:nvSpPr>
        <p:spPr>
          <a:xfrm>
            <a:off x="4921857" y="2268656"/>
            <a:ext cx="6627226" cy="3505938"/>
          </a:xfrm>
        </p:spPr>
        <p:txBody>
          <a:bodyPr anchor="t">
            <a:normAutofit fontScale="77500" lnSpcReduction="20000"/>
          </a:bodyPr>
          <a:lstStyle/>
          <a:p>
            <a:r>
              <a:rPr lang="en-US" b="0" dirty="0">
                <a:ea typeface="+mn-lt"/>
                <a:cs typeface="+mn-lt"/>
              </a:rPr>
              <a:t>Between 2021 and 2025, UiPath’s revenue grew significantly—from </a:t>
            </a:r>
            <a:r>
              <a:rPr lang="en-US" dirty="0">
                <a:ea typeface="+mn-lt"/>
                <a:cs typeface="+mn-lt"/>
              </a:rPr>
              <a:t>$607.6 million to $1.43 billion</a:t>
            </a:r>
            <a:r>
              <a:rPr lang="en-US" b="0" dirty="0">
                <a:ea typeface="+mn-lt"/>
                <a:cs typeface="+mn-lt"/>
              </a:rPr>
              <a:t>—showing strong overall expansion but a gradual slowdown in growth rates. </a:t>
            </a:r>
            <a:endParaRPr lang="en-US" dirty="0">
              <a:ea typeface="+mn-lt"/>
              <a:cs typeface="+mn-lt"/>
            </a:endParaRPr>
          </a:p>
          <a:p>
            <a:r>
              <a:rPr lang="en-US" b="0" dirty="0">
                <a:ea typeface="+mn-lt"/>
                <a:cs typeface="+mn-lt"/>
              </a:rPr>
              <a:t>The company experienced rapid early growth (over 80% in 2021) driven by rising global adoption of automation solutions, followed by steady increases as it matured and expanded its enterprise customer base. By 2025, growth had moderated to </a:t>
            </a:r>
            <a:r>
              <a:rPr lang="en-US" dirty="0">
                <a:ea typeface="+mn-lt"/>
                <a:cs typeface="+mn-lt"/>
              </a:rPr>
              <a:t>9.3%</a:t>
            </a:r>
            <a:r>
              <a:rPr lang="en-US" b="0" dirty="0">
                <a:ea typeface="+mn-lt"/>
                <a:cs typeface="+mn-lt"/>
              </a:rPr>
              <a:t>, reflecting UiPath’s transition from a high-growth startup to a more established, stable technology leader focused on scaling efficiently and maintaining consistent long-term performance.</a:t>
            </a:r>
            <a:endParaRPr lang="en-US" dirty="0">
              <a:ea typeface="Meiryo"/>
            </a:endParaRPr>
          </a:p>
          <a:p>
            <a:endParaRPr lang="en-US" dirty="0">
              <a:ea typeface="Meiryo"/>
            </a:endParaRPr>
          </a:p>
        </p:txBody>
      </p:sp>
      <p:sp>
        <p:nvSpPr>
          <p:cNvPr id="46" name="Rectangle 45">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94069" y="6167615"/>
            <a:ext cx="77948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E95A697D-89FE-4C7B-A719-6D3AAC99466F}"/>
              </a:ext>
            </a:extLst>
          </p:cNvPr>
          <p:cNvSpPr txBox="1">
            <a:spLocks/>
          </p:cNvSpPr>
          <p:nvPr/>
        </p:nvSpPr>
        <p:spPr>
          <a:xfrm>
            <a:off x="4919472" y="5573535"/>
            <a:ext cx="6172411" cy="323198"/>
          </a:xfrm>
          <a:prstGeom prst="rect">
            <a:avLst/>
          </a:prstGeom>
        </p:spPr>
        <p:txBody>
          <a:bodyPr vert="horz" lIns="109728" tIns="109728" rIns="109728" bIns="91440" rtlCol="0" anchor="ctr">
            <a:no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sz="900" b="0" dirty="0">
                <a:effectLst/>
                <a:latin typeface="Arial" panose="020B0604020202020204" pitchFamily="34" charset="0"/>
                <a:cs typeface="Arial" panose="020B0604020202020204" pitchFamily="34" charset="0"/>
              </a:rPr>
              <a:t>1. https://stockanalysis.com/stocks/path/revenue/</a:t>
            </a:r>
          </a:p>
        </p:txBody>
      </p:sp>
    </p:spTree>
    <p:extLst>
      <p:ext uri="{BB962C8B-B14F-4D97-AF65-F5344CB8AC3E}">
        <p14:creationId xmlns:p14="http://schemas.microsoft.com/office/powerpoint/2010/main" val="2694357668"/>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932FF329-3A87-4F66-BA01-91CD63C81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4420926" cy="68381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146359"/>
            <a:ext cx="4426072" cy="7116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748578"/>
            <a:ext cx="7765922" cy="541903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1">
            <a:extLst>
              <a:ext uri="{FF2B5EF4-FFF2-40B4-BE49-F238E27FC236}">
                <a16:creationId xmlns:a16="http://schemas.microsoft.com/office/drawing/2014/main" id="{0A751C75-9B91-61FB-1760-3FF3FA0E0241}"/>
              </a:ext>
            </a:extLst>
          </p:cNvPr>
          <p:cNvSpPr>
            <a:spLocks noGrp="1"/>
          </p:cNvSpPr>
          <p:nvPr>
            <p:ph type="title"/>
          </p:nvPr>
        </p:nvSpPr>
        <p:spPr>
          <a:xfrm>
            <a:off x="4919472" y="1056362"/>
            <a:ext cx="6627226" cy="1154102"/>
          </a:xfrm>
        </p:spPr>
        <p:txBody>
          <a:bodyPr>
            <a:noAutofit/>
          </a:bodyPr>
          <a:lstStyle/>
          <a:p>
            <a:r>
              <a:rPr lang="en-US" sz="2500" b="0" dirty="0">
                <a:ea typeface="+mj-lt"/>
                <a:cs typeface="+mj-lt"/>
              </a:rPr>
              <a:t>Automation at Scale: Tracking UiPath’s Revenue Evolution </a:t>
            </a:r>
            <a:endParaRPr lang="en-US" sz="2500" dirty="0"/>
          </a:p>
        </p:txBody>
      </p:sp>
      <p:sp>
        <p:nvSpPr>
          <p:cNvPr id="44" name="Rectangle 43">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8774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ontent Placeholder 7">
            <a:extLst>
              <a:ext uri="{FF2B5EF4-FFF2-40B4-BE49-F238E27FC236}">
                <a16:creationId xmlns:a16="http://schemas.microsoft.com/office/drawing/2014/main" id="{8F20BD1A-73A3-0CBD-4EEA-13AC90358DE7}"/>
              </a:ext>
            </a:extLst>
          </p:cNvPr>
          <p:cNvSpPr>
            <a:spLocks noGrp="1"/>
          </p:cNvSpPr>
          <p:nvPr>
            <p:ph idx="1"/>
          </p:nvPr>
        </p:nvSpPr>
        <p:spPr>
          <a:xfrm>
            <a:off x="4921857" y="2268656"/>
            <a:ext cx="6627226" cy="3505938"/>
          </a:xfrm>
        </p:spPr>
        <p:txBody>
          <a:bodyPr anchor="t">
            <a:normAutofit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a:cs typeface="Arial"/>
              </a:rPr>
              <a:t>To analyze UiPath’s stock price dynamics during 2024-2025</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0" dirty="0">
              <a:solidFill>
                <a:schemeClr val="tx1"/>
              </a:solidFill>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a:cs typeface="Arial"/>
              </a:rPr>
              <a:t>Compare </a:t>
            </a:r>
            <a:r>
              <a:rPr kumimoji="0" lang="en-US" altLang="en-US" sz="1800" b="1" i="0" u="none" strike="noStrike" cap="none" normalizeH="0" baseline="0" dirty="0">
                <a:ln>
                  <a:noFill/>
                </a:ln>
                <a:solidFill>
                  <a:schemeClr val="tx1"/>
                </a:solidFill>
                <a:effectLst/>
                <a:latin typeface="Arial"/>
                <a:cs typeface="Arial"/>
              </a:rPr>
              <a:t>UiPath’s stock price change</a:t>
            </a:r>
            <a:r>
              <a:rPr kumimoji="0" lang="en-US" altLang="en-US" sz="1800" b="0" i="0" u="none" strike="noStrike" cap="none" normalizeH="0" baseline="0" dirty="0">
                <a:ln>
                  <a:noFill/>
                </a:ln>
                <a:solidFill>
                  <a:schemeClr val="tx1"/>
                </a:solidFill>
                <a:effectLst/>
                <a:latin typeface="Arial"/>
                <a:cs typeface="Arial"/>
              </a:rPr>
              <a:t> with a similar tech company (e.g., Palantir).</a:t>
            </a:r>
            <a:endParaRPr lang="en-US" altLang="en-US" sz="1800" b="0" i="0" u="none" strike="noStrike" cap="none" normalizeH="0" baseline="0">
              <a:ln>
                <a:noFill/>
              </a:ln>
              <a:solidFill>
                <a:schemeClr val="tx1"/>
              </a:solidFill>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endParaRPr>
          </a:p>
          <a:p>
            <a:pPr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a:cs typeface="Arial"/>
              </a:rPr>
              <a:t>Analyze </a:t>
            </a:r>
            <a:r>
              <a:rPr lang="en-US" altLang="en-US" b="0" dirty="0">
                <a:solidFill>
                  <a:schemeClr val="tx1"/>
                </a:solidFill>
                <a:latin typeface="Arial"/>
                <a:cs typeface="Arial"/>
              </a:rPr>
              <a:t>the </a:t>
            </a:r>
            <a:r>
              <a:rPr lang="en-US" altLang="en-US" dirty="0">
                <a:solidFill>
                  <a:schemeClr val="tx1"/>
                </a:solidFill>
                <a:latin typeface="Arial"/>
                <a:cs typeface="Arial"/>
              </a:rPr>
              <a:t>correlation between revenue growth and stock performance</a:t>
            </a:r>
            <a:r>
              <a:rPr kumimoji="0" lang="en-US" altLang="en-US" sz="1800" b="0" i="0" u="none" strike="noStrike" cap="none" normalizeH="0" baseline="0" dirty="0">
                <a:ln>
                  <a:noFill/>
                </a:ln>
                <a:solidFill>
                  <a:schemeClr val="tx1"/>
                </a:solidFill>
                <a:effectLst/>
                <a:latin typeface="Arial"/>
                <a:cs typeface="Arial"/>
              </a:rPr>
              <a:t>.</a:t>
            </a:r>
            <a:endParaRPr lang="en-US" altLang="en-US" sz="1800" b="0" i="0" u="none" strike="noStrike" cap="none" normalizeH="0" baseline="0" dirty="0">
              <a:ln>
                <a:noFill/>
              </a:ln>
              <a:solidFill>
                <a:schemeClr val="tx1"/>
              </a:solidFill>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a:cs typeface="Arial"/>
              </a:rPr>
              <a:t>Examine </a:t>
            </a:r>
            <a:r>
              <a:rPr kumimoji="0" lang="en-US" altLang="en-US" sz="1800" b="1" i="0" u="none" strike="noStrike" cap="none" normalizeH="0" baseline="0" dirty="0">
                <a:ln>
                  <a:noFill/>
                </a:ln>
                <a:solidFill>
                  <a:schemeClr val="tx1"/>
                </a:solidFill>
                <a:effectLst/>
                <a:latin typeface="Arial"/>
                <a:cs typeface="Arial"/>
              </a:rPr>
              <a:t>stock volatility</a:t>
            </a:r>
            <a:r>
              <a:rPr kumimoji="0" lang="en-US" altLang="en-US" sz="1800" b="0" i="0" u="none" strike="noStrike" cap="none" normalizeH="0" baseline="0" dirty="0">
                <a:ln>
                  <a:noFill/>
                </a:ln>
                <a:solidFill>
                  <a:schemeClr val="tx1"/>
                </a:solidFill>
                <a:effectLst/>
                <a:latin typeface="Arial"/>
                <a:cs typeface="Arial"/>
              </a:rPr>
              <a:t> for both companies.</a:t>
            </a:r>
            <a:endParaRPr lang="en-US" altLang="en-US" sz="1800" b="0" i="0" u="none" strike="noStrike" cap="none" normalizeH="0" baseline="0">
              <a:ln>
                <a:noFill/>
              </a:ln>
              <a:solidFill>
                <a:schemeClr val="tx1"/>
              </a:solidFill>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a:cs typeface="Arial"/>
              </a:rPr>
              <a:t>Identify </a:t>
            </a:r>
            <a:r>
              <a:rPr kumimoji="0" lang="en-US" altLang="en-US" sz="1800" b="1" i="0" u="none" strike="noStrike" cap="none" normalizeH="0" baseline="0" dirty="0">
                <a:ln>
                  <a:noFill/>
                </a:ln>
                <a:solidFill>
                  <a:schemeClr val="tx1"/>
                </a:solidFill>
                <a:effectLst/>
                <a:latin typeface="Arial"/>
                <a:cs typeface="Arial"/>
              </a:rPr>
              <a:t>key strategic events</a:t>
            </a:r>
            <a:r>
              <a:rPr kumimoji="0" lang="en-US" altLang="en-US" sz="1800" b="0" i="0" u="none" strike="noStrike" cap="none" normalizeH="0" baseline="0" dirty="0">
                <a:ln>
                  <a:noFill/>
                </a:ln>
                <a:solidFill>
                  <a:schemeClr val="tx1"/>
                </a:solidFill>
                <a:effectLst/>
                <a:latin typeface="Arial"/>
                <a:cs typeface="Arial"/>
              </a:rPr>
              <a:t> that may have influenced stock movement.</a:t>
            </a:r>
            <a:endParaRPr lang="en-US" altLang="en-US" sz="1800" b="0" i="0" u="none" strike="noStrike" cap="none" normalizeH="0" baseline="0">
              <a:ln>
                <a:noFill/>
              </a:ln>
              <a:solidFill>
                <a:schemeClr val="tx1"/>
              </a:solidFill>
              <a:effectLst/>
              <a:latin typeface="Arial"/>
              <a:cs typeface="Arial"/>
            </a:endParaRPr>
          </a:p>
        </p:txBody>
      </p:sp>
      <p:sp>
        <p:nvSpPr>
          <p:cNvPr id="46" name="Rectangle 45">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94069" y="6167615"/>
            <a:ext cx="77948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E95A697D-89FE-4C7B-A719-6D3AAC99466F}"/>
              </a:ext>
            </a:extLst>
          </p:cNvPr>
          <p:cNvSpPr txBox="1">
            <a:spLocks/>
          </p:cNvSpPr>
          <p:nvPr/>
        </p:nvSpPr>
        <p:spPr>
          <a:xfrm>
            <a:off x="4919472" y="5573535"/>
            <a:ext cx="6172411" cy="323198"/>
          </a:xfrm>
          <a:prstGeom prst="rect">
            <a:avLst/>
          </a:prstGeom>
        </p:spPr>
        <p:txBody>
          <a:bodyPr vert="horz" lIns="109728" tIns="109728" rIns="109728" bIns="91440" rtlCol="0" anchor="ctr">
            <a:no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sz="900" b="0" dirty="0">
                <a:effectLst/>
                <a:latin typeface="Arial" panose="020B0604020202020204" pitchFamily="34" charset="0"/>
                <a:cs typeface="Arial" panose="020B0604020202020204" pitchFamily="34" charset="0"/>
              </a:rPr>
              <a:t>1. https://stockanalysis.com/stocks/path/revenue/</a:t>
            </a:r>
          </a:p>
        </p:txBody>
      </p:sp>
      <p:sp>
        <p:nvSpPr>
          <p:cNvPr id="14" name="Title 1">
            <a:extLst>
              <a:ext uri="{FF2B5EF4-FFF2-40B4-BE49-F238E27FC236}">
                <a16:creationId xmlns:a16="http://schemas.microsoft.com/office/drawing/2014/main" id="{073DDAE1-3FA0-4B35-BBEC-78B2993F0CF3}"/>
              </a:ext>
            </a:extLst>
          </p:cNvPr>
          <p:cNvSpPr txBox="1">
            <a:spLocks/>
          </p:cNvSpPr>
          <p:nvPr/>
        </p:nvSpPr>
        <p:spPr>
          <a:xfrm>
            <a:off x="632621" y="715410"/>
            <a:ext cx="3422270" cy="5187201"/>
          </a:xfrm>
          <a:prstGeom prst="rect">
            <a:avLst/>
          </a:prstGeom>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US" dirty="0"/>
              <a:t> Research focus</a:t>
            </a:r>
            <a:endParaRPr lang="en-US" dirty="0">
              <a:ea typeface="Meiryo"/>
            </a:endParaRPr>
          </a:p>
        </p:txBody>
      </p:sp>
    </p:spTree>
    <p:extLst>
      <p:ext uri="{BB962C8B-B14F-4D97-AF65-F5344CB8AC3E}">
        <p14:creationId xmlns:p14="http://schemas.microsoft.com/office/powerpoint/2010/main" val="1125544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1">
            <a:extLst>
              <a:ext uri="{FF2B5EF4-FFF2-40B4-BE49-F238E27FC236}">
                <a16:creationId xmlns:a16="http://schemas.microsoft.com/office/drawing/2014/main" id="{0A751C75-9B91-61FB-1760-3FF3FA0E0241}"/>
              </a:ext>
            </a:extLst>
          </p:cNvPr>
          <p:cNvSpPr>
            <a:spLocks noGrp="1"/>
          </p:cNvSpPr>
          <p:nvPr>
            <p:ph type="title"/>
          </p:nvPr>
        </p:nvSpPr>
        <p:spPr>
          <a:xfrm>
            <a:off x="4919472" y="1056362"/>
            <a:ext cx="7139178" cy="1154102"/>
          </a:xfrm>
        </p:spPr>
        <p:txBody>
          <a:bodyPr>
            <a:noAutofit/>
          </a:bodyPr>
          <a:lstStyle/>
          <a:p>
            <a:r>
              <a:rPr lang="en-US" sz="1400" b="0" dirty="0"/>
              <a:t>Stock data from Yahoo Finance was used for quantitative analysis.</a:t>
            </a:r>
            <a:br>
              <a:rPr lang="en-US" sz="1400" b="0" dirty="0"/>
            </a:br>
            <a:r>
              <a:rPr lang="en-US" sz="1400" b="0" dirty="0"/>
              <a:t>The dataset includes UiPath (PATH) and Palantir (PLTR) between 2024–2025.</a:t>
            </a:r>
            <a:br>
              <a:rPr lang="en-US" sz="1400" b="0" dirty="0"/>
            </a:br>
            <a:r>
              <a:rPr lang="en-US" sz="1400" b="0" dirty="0"/>
              <a:t>Data was collected and analyzed in Python using </a:t>
            </a:r>
            <a:r>
              <a:rPr lang="en-US" sz="1400" b="0" i="1" dirty="0" err="1"/>
              <a:t>yfinance</a:t>
            </a:r>
            <a:r>
              <a:rPr lang="en-US" sz="1400" b="0" i="1" dirty="0"/>
              <a:t>, pandas, matplotlib,</a:t>
            </a:r>
            <a:r>
              <a:rPr lang="en-US" sz="1400" b="0" dirty="0"/>
              <a:t> and </a:t>
            </a:r>
            <a:r>
              <a:rPr lang="en-US" sz="1400" b="0" i="1" dirty="0" err="1"/>
              <a:t>statsmodels</a:t>
            </a:r>
            <a:r>
              <a:rPr lang="en-US" sz="1400" b="0" dirty="0"/>
              <a:t>.</a:t>
            </a:r>
            <a:endParaRPr lang="en-US" sz="2500" b="0" dirty="0"/>
          </a:p>
        </p:txBody>
      </p:sp>
      <p:sp>
        <p:nvSpPr>
          <p:cNvPr id="45" name="Content Placeholder 7">
            <a:extLst>
              <a:ext uri="{FF2B5EF4-FFF2-40B4-BE49-F238E27FC236}">
                <a16:creationId xmlns:a16="http://schemas.microsoft.com/office/drawing/2014/main" id="{8F20BD1A-73A3-0CBD-4EEA-13AC90358DE7}"/>
              </a:ext>
            </a:extLst>
          </p:cNvPr>
          <p:cNvSpPr>
            <a:spLocks noGrp="1"/>
          </p:cNvSpPr>
          <p:nvPr>
            <p:ph idx="1"/>
          </p:nvPr>
        </p:nvSpPr>
        <p:spPr>
          <a:xfrm>
            <a:off x="4919472" y="2744906"/>
            <a:ext cx="6627226" cy="3505938"/>
          </a:xfrm>
        </p:spPr>
        <p:txBody>
          <a:bodyPr anchor="t">
            <a:normAutofit/>
          </a:bodyPr>
          <a:lstStyle/>
          <a:p>
            <a:r>
              <a:rPr lang="en-US" b="1" dirty="0"/>
              <a:t>Key Parameters:</a:t>
            </a:r>
            <a:endParaRPr lang="en-US" dirty="0"/>
          </a:p>
          <a:p>
            <a:pPr>
              <a:buFont typeface="Arial" panose="020B0604020202020204" pitchFamily="34" charset="0"/>
              <a:buChar char="•"/>
            </a:pPr>
            <a:r>
              <a:rPr lang="en-US" dirty="0"/>
              <a:t>Closing price (daily)</a:t>
            </a:r>
          </a:p>
          <a:p>
            <a:pPr>
              <a:buFont typeface="Arial" panose="020B0604020202020204" pitchFamily="34" charset="0"/>
              <a:buChar char="•"/>
            </a:pPr>
            <a:r>
              <a:rPr lang="en-US" dirty="0"/>
              <a:t>20-day &amp; 50-day moving averages</a:t>
            </a:r>
          </a:p>
          <a:p>
            <a:pPr>
              <a:buFont typeface="Arial" panose="020B0604020202020204" pitchFamily="34" charset="0"/>
              <a:buChar char="•"/>
            </a:pPr>
            <a:r>
              <a:rPr lang="en-US" dirty="0"/>
              <a:t>Trading volume</a:t>
            </a:r>
          </a:p>
          <a:p>
            <a:pPr>
              <a:buFont typeface="Arial" panose="020B0604020202020204" pitchFamily="34" charset="0"/>
              <a:buChar char="•"/>
            </a:pPr>
            <a:r>
              <a:rPr lang="en-US" dirty="0"/>
              <a:t>ADF stationarity test</a:t>
            </a:r>
          </a:p>
          <a:p>
            <a:pPr>
              <a:buFont typeface="Arial" panose="020B0604020202020204" pitchFamily="34" charset="0"/>
              <a:buChar char="•"/>
            </a:pPr>
            <a:r>
              <a:rPr lang="en-US" dirty="0"/>
              <a:t>Price volatility</a:t>
            </a:r>
          </a:p>
        </p:txBody>
      </p:sp>
      <p:sp>
        <p:nvSpPr>
          <p:cNvPr id="14" name="Title 1">
            <a:extLst>
              <a:ext uri="{FF2B5EF4-FFF2-40B4-BE49-F238E27FC236}">
                <a16:creationId xmlns:a16="http://schemas.microsoft.com/office/drawing/2014/main" id="{073DDAE1-3FA0-4B35-BBEC-78B2993F0CF3}"/>
              </a:ext>
            </a:extLst>
          </p:cNvPr>
          <p:cNvSpPr txBox="1">
            <a:spLocks/>
          </p:cNvSpPr>
          <p:nvPr/>
        </p:nvSpPr>
        <p:spPr>
          <a:xfrm>
            <a:off x="261918" y="705113"/>
            <a:ext cx="4218007" cy="5197498"/>
          </a:xfrm>
          <a:prstGeom prst="rect">
            <a:avLst/>
          </a:prstGeom>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US" sz="3200" dirty="0"/>
              <a:t> </a:t>
            </a:r>
            <a:r>
              <a:rPr lang="en-US" dirty="0"/>
              <a:t>Methodology</a:t>
            </a:r>
            <a:endParaRPr lang="en-US" dirty="0">
              <a:ea typeface="Meiryo"/>
            </a:endParaRPr>
          </a:p>
        </p:txBody>
      </p:sp>
    </p:spTree>
    <p:extLst>
      <p:ext uri="{BB962C8B-B14F-4D97-AF65-F5344CB8AC3E}">
        <p14:creationId xmlns:p14="http://schemas.microsoft.com/office/powerpoint/2010/main" val="3606808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1">
            <a:extLst>
              <a:ext uri="{FF2B5EF4-FFF2-40B4-BE49-F238E27FC236}">
                <a16:creationId xmlns:a16="http://schemas.microsoft.com/office/drawing/2014/main" id="{0A751C75-9B91-61FB-1760-3FF3FA0E0241}"/>
              </a:ext>
            </a:extLst>
          </p:cNvPr>
          <p:cNvSpPr>
            <a:spLocks noGrp="1"/>
          </p:cNvSpPr>
          <p:nvPr>
            <p:ph type="title"/>
          </p:nvPr>
        </p:nvSpPr>
        <p:spPr>
          <a:xfrm>
            <a:off x="4919472" y="1056362"/>
            <a:ext cx="7139178" cy="1154102"/>
          </a:xfrm>
        </p:spPr>
        <p:txBody>
          <a:bodyPr>
            <a:noAutofit/>
          </a:bodyPr>
          <a:lstStyle/>
          <a:p>
            <a:r>
              <a:rPr lang="en-US" sz="1400" dirty="0"/>
              <a:t>We used Spyder to analyze the data</a:t>
            </a:r>
            <a:endParaRPr lang="en-US" sz="2500" dirty="0"/>
          </a:p>
        </p:txBody>
      </p:sp>
      <p:sp>
        <p:nvSpPr>
          <p:cNvPr id="14" name="Title 1">
            <a:extLst>
              <a:ext uri="{FF2B5EF4-FFF2-40B4-BE49-F238E27FC236}">
                <a16:creationId xmlns:a16="http://schemas.microsoft.com/office/drawing/2014/main" id="{073DDAE1-3FA0-4B35-BBEC-78B2993F0CF3}"/>
              </a:ext>
            </a:extLst>
          </p:cNvPr>
          <p:cNvSpPr txBox="1">
            <a:spLocks/>
          </p:cNvSpPr>
          <p:nvPr/>
        </p:nvSpPr>
        <p:spPr>
          <a:xfrm>
            <a:off x="642918" y="705113"/>
            <a:ext cx="3557607" cy="5197498"/>
          </a:xfrm>
          <a:prstGeom prst="rect">
            <a:avLst/>
          </a:prstGeom>
        </p:spPr>
        <p:txBody>
          <a:bodyPr vert="horz" lIns="109728" tIns="109728" rIns="109728" bIns="91440" rtlCol="0" anchor="ctr">
            <a:norm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r>
              <a:rPr lang="en-US" dirty="0"/>
              <a:t>Methodology</a:t>
            </a:r>
          </a:p>
        </p:txBody>
      </p:sp>
      <p:pic>
        <p:nvPicPr>
          <p:cNvPr id="3" name="Picture 2">
            <a:extLst>
              <a:ext uri="{FF2B5EF4-FFF2-40B4-BE49-F238E27FC236}">
                <a16:creationId xmlns:a16="http://schemas.microsoft.com/office/drawing/2014/main" id="{6900226A-60DC-4E48-BF69-203B973507E1}"/>
              </a:ext>
            </a:extLst>
          </p:cNvPr>
          <p:cNvPicPr>
            <a:picLocks noChangeAspect="1"/>
          </p:cNvPicPr>
          <p:nvPr/>
        </p:nvPicPr>
        <p:blipFill>
          <a:blip r:embed="rId3"/>
          <a:stretch>
            <a:fillRect/>
          </a:stretch>
        </p:blipFill>
        <p:spPr>
          <a:xfrm>
            <a:off x="4810125" y="2024238"/>
            <a:ext cx="7248525" cy="3777400"/>
          </a:xfrm>
          <a:prstGeom prst="rect">
            <a:avLst/>
          </a:prstGeom>
        </p:spPr>
      </p:pic>
    </p:spTree>
    <p:extLst>
      <p:ext uri="{BB962C8B-B14F-4D97-AF65-F5344CB8AC3E}">
        <p14:creationId xmlns:p14="http://schemas.microsoft.com/office/powerpoint/2010/main" val="499224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B2B14-3CD4-6ABB-C2F7-5F684BD2DAAD}"/>
              </a:ext>
            </a:extLst>
          </p:cNvPr>
          <p:cNvSpPr>
            <a:spLocks noGrp="1"/>
          </p:cNvSpPr>
          <p:nvPr>
            <p:ph type="title"/>
          </p:nvPr>
        </p:nvSpPr>
        <p:spPr>
          <a:xfrm>
            <a:off x="453730" y="886088"/>
            <a:ext cx="3805263" cy="2889425"/>
          </a:xfrm>
        </p:spPr>
        <p:txBody>
          <a:bodyPr/>
          <a:lstStyle/>
          <a:p>
            <a:pPr algn="ctr"/>
            <a:r>
              <a:rPr lang="en-US" dirty="0">
                <a:latin typeface="Arial"/>
                <a:ea typeface="Meiryo"/>
                <a:cs typeface="Arial"/>
              </a:rPr>
              <a:t>2. Findings</a:t>
            </a:r>
          </a:p>
        </p:txBody>
      </p:sp>
      <p:pic>
        <p:nvPicPr>
          <p:cNvPr id="6" name="Content Placeholder 5">
            <a:extLst>
              <a:ext uri="{FF2B5EF4-FFF2-40B4-BE49-F238E27FC236}">
                <a16:creationId xmlns:a16="http://schemas.microsoft.com/office/drawing/2014/main" id="{95F4F18D-BB50-4B36-9AF2-EC69FA429F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15207" y="2967962"/>
            <a:ext cx="6583361" cy="3540677"/>
          </a:xfrm>
        </p:spPr>
      </p:pic>
      <p:pic>
        <p:nvPicPr>
          <p:cNvPr id="5" name="Picture 4">
            <a:extLst>
              <a:ext uri="{FF2B5EF4-FFF2-40B4-BE49-F238E27FC236}">
                <a16:creationId xmlns:a16="http://schemas.microsoft.com/office/drawing/2014/main" id="{36FB7427-9201-4AF8-A6A2-61CCD4DF2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612" y="3429000"/>
            <a:ext cx="2857500" cy="1600200"/>
          </a:xfrm>
          <a:prstGeom prst="rect">
            <a:avLst/>
          </a:prstGeom>
        </p:spPr>
      </p:pic>
      <p:sp>
        <p:nvSpPr>
          <p:cNvPr id="7" name="Title 1">
            <a:extLst>
              <a:ext uri="{FF2B5EF4-FFF2-40B4-BE49-F238E27FC236}">
                <a16:creationId xmlns:a16="http://schemas.microsoft.com/office/drawing/2014/main" id="{F2427873-30BA-4355-8A52-F9FA3F4509E6}"/>
              </a:ext>
            </a:extLst>
          </p:cNvPr>
          <p:cNvSpPr txBox="1">
            <a:spLocks/>
          </p:cNvSpPr>
          <p:nvPr/>
        </p:nvSpPr>
        <p:spPr>
          <a:xfrm>
            <a:off x="4919472" y="1056362"/>
            <a:ext cx="7139178" cy="1154102"/>
          </a:xfrm>
          <a:prstGeom prst="rect">
            <a:avLst/>
          </a:prstGeom>
        </p:spPr>
        <p:txBody>
          <a:bodyPr vert="horz" lIns="109728" tIns="109728" rIns="109728" bIns="91440" rtlCol="0" anchor="ctr">
            <a:noAutofit/>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r>
              <a:rPr lang="en-US" sz="1200" b="0" dirty="0">
                <a:solidFill>
                  <a:schemeClr val="tx1"/>
                </a:solidFill>
                <a:latin typeface="Arial" panose="020B0604020202020204" pitchFamily="34" charset="0"/>
                <a:cs typeface="Arial" panose="020B0604020202020204" pitchFamily="34" charset="0"/>
              </a:rPr>
              <a:t>This chart shows UiPath’s stock price movements (Close) throughout 2024 and 2025, along with its 20-day (red line) and 50-day (green line) moving averages.</a:t>
            </a:r>
          </a:p>
          <a:p>
            <a:endParaRPr lang="en-US" sz="1200" b="0" dirty="0">
              <a:solidFill>
                <a:schemeClr val="tx1"/>
              </a:solidFill>
              <a:latin typeface="Arial" panose="020B0604020202020204" pitchFamily="34" charset="0"/>
              <a:cs typeface="Arial" panose="020B0604020202020204" pitchFamily="34" charset="0"/>
            </a:endParaRPr>
          </a:p>
          <a:p>
            <a:r>
              <a:rPr lang="en-US" sz="1200" b="0" dirty="0">
                <a:solidFill>
                  <a:schemeClr val="tx1"/>
                </a:solidFill>
                <a:latin typeface="Arial" panose="020B0604020202020204" pitchFamily="34" charset="0"/>
                <a:cs typeface="Arial" panose="020B0604020202020204" pitchFamily="34" charset="0"/>
              </a:rPr>
              <a:t>The price peaked </a:t>
            </a:r>
            <a:r>
              <a:rPr lang="en-US" sz="1200" dirty="0">
                <a:solidFill>
                  <a:schemeClr val="tx1"/>
                </a:solidFill>
                <a:latin typeface="Arial" panose="020B0604020202020204" pitchFamily="34" charset="0"/>
                <a:cs typeface="Arial" panose="020B0604020202020204" pitchFamily="34" charset="0"/>
              </a:rPr>
              <a:t>around $25–27 in early 2024</a:t>
            </a:r>
            <a:r>
              <a:rPr lang="en-US" sz="1200" b="0" dirty="0">
                <a:solidFill>
                  <a:schemeClr val="tx1"/>
                </a:solidFill>
                <a:latin typeface="Arial" panose="020B0604020202020204" pitchFamily="34" charset="0"/>
                <a:cs typeface="Arial" panose="020B0604020202020204" pitchFamily="34" charset="0"/>
              </a:rPr>
              <a:t>, then declined sharply to about $12 by mid-2024. It stayed relatively flat through early 2025 before starting to rise again around mid-2025, reaching another peak near $20+ in late 2025.The 20-day moving average reacts faster to short-term changes, while the 50-day average smooths longer trends — their crossovers indicate potential trend reversals in the stock’s momentum.</a:t>
            </a:r>
          </a:p>
        </p:txBody>
      </p:sp>
    </p:spTree>
    <p:extLst>
      <p:ext uri="{BB962C8B-B14F-4D97-AF65-F5344CB8AC3E}">
        <p14:creationId xmlns:p14="http://schemas.microsoft.com/office/powerpoint/2010/main" val="3099611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911164-B13F-F58A-D120-D4C62624C34D}"/>
              </a:ext>
            </a:extLst>
          </p:cNvPr>
          <p:cNvPicPr>
            <a:picLocks noChangeAspect="1"/>
          </p:cNvPicPr>
          <p:nvPr/>
        </p:nvPicPr>
        <p:blipFill>
          <a:blip r:embed="rId2"/>
          <a:stretch>
            <a:fillRect/>
          </a:stretch>
        </p:blipFill>
        <p:spPr>
          <a:xfrm>
            <a:off x="794357" y="500308"/>
            <a:ext cx="10595432" cy="5865239"/>
          </a:xfrm>
          <a:prstGeom prst="rect">
            <a:avLst/>
          </a:prstGeom>
        </p:spPr>
      </p:pic>
    </p:spTree>
    <p:extLst>
      <p:ext uri="{BB962C8B-B14F-4D97-AF65-F5344CB8AC3E}">
        <p14:creationId xmlns:p14="http://schemas.microsoft.com/office/powerpoint/2010/main" val="2390045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C96CC1-6F8A-FEED-D0D0-1461C206238C}"/>
              </a:ext>
            </a:extLst>
          </p:cNvPr>
          <p:cNvSpPr>
            <a:spLocks noGrp="1"/>
          </p:cNvSpPr>
          <p:nvPr>
            <p:ph idx="1"/>
          </p:nvPr>
        </p:nvSpPr>
        <p:spPr>
          <a:xfrm>
            <a:off x="638818" y="640078"/>
            <a:ext cx="6969693" cy="5770147"/>
          </a:xfrm>
        </p:spPr>
        <p:txBody>
          <a:bodyPr vert="horz" lIns="109728" tIns="109728" rIns="109728" bIns="91440" rtlCol="0" anchor="ctr">
            <a:noAutofit/>
          </a:bodyPr>
          <a:lstStyle/>
          <a:p>
            <a:r>
              <a:rPr lang="en-US" sz="1200" b="0" dirty="0">
                <a:ea typeface="+mn-lt"/>
                <a:cs typeface="+mn-lt"/>
              </a:rPr>
              <a:t>Both price lines start at a base value of 100, allowing us to easily compare their </a:t>
            </a:r>
            <a:r>
              <a:rPr lang="en-US" sz="1200" dirty="0">
                <a:ea typeface="+mn-lt"/>
                <a:cs typeface="+mn-lt"/>
              </a:rPr>
              <a:t>relative performance</a:t>
            </a:r>
            <a:r>
              <a:rPr lang="en-US" sz="1200" b="0" dirty="0">
                <a:ea typeface="+mn-lt"/>
                <a:cs typeface="+mn-lt"/>
              </a:rPr>
              <a:t> rather than their absolute stock prices.</a:t>
            </a:r>
            <a:endParaRPr lang="en-US" sz="1200" dirty="0">
              <a:ea typeface="Meiryo"/>
            </a:endParaRPr>
          </a:p>
          <a:p>
            <a:r>
              <a:rPr lang="en-US" sz="1200" b="0" dirty="0">
                <a:ea typeface="+mn-lt"/>
                <a:cs typeface="+mn-lt"/>
              </a:rPr>
              <a:t>When a line rises above 100, it indicates that the stock price has increased relative to the start of 2024. Conversely, when it falls below 100, the stock has declined compared to its initial level.</a:t>
            </a:r>
            <a:endParaRPr lang="en-US" sz="1200" dirty="0">
              <a:ea typeface="Meiryo"/>
            </a:endParaRPr>
          </a:p>
          <a:p>
            <a:r>
              <a:rPr lang="en-US" sz="1200" b="0" dirty="0">
                <a:ea typeface="+mn-lt"/>
                <a:cs typeface="+mn-lt"/>
              </a:rPr>
              <a:t>The slope of each line reflects the </a:t>
            </a:r>
            <a:r>
              <a:rPr lang="en-US" sz="1200" dirty="0">
                <a:ea typeface="+mn-lt"/>
                <a:cs typeface="+mn-lt"/>
              </a:rPr>
              <a:t>momentum and volatility</a:t>
            </a:r>
            <a:r>
              <a:rPr lang="en-US" sz="1200" b="0" dirty="0">
                <a:ea typeface="+mn-lt"/>
                <a:cs typeface="+mn-lt"/>
              </a:rPr>
              <a:t> of the stock:</a:t>
            </a:r>
            <a:endParaRPr lang="en-US" sz="1200" dirty="0">
              <a:ea typeface="Meiryo"/>
            </a:endParaRPr>
          </a:p>
          <a:p>
            <a:pPr marL="285750" indent="-285750">
              <a:buFont typeface="Arial"/>
              <a:buChar char="•"/>
            </a:pPr>
            <a:r>
              <a:rPr lang="en-US" sz="1200" dirty="0">
                <a:ea typeface="+mn-lt"/>
                <a:cs typeface="+mn-lt"/>
              </a:rPr>
              <a:t>Steeper upward slopes</a:t>
            </a:r>
            <a:r>
              <a:rPr lang="en-US" sz="1200" b="0" dirty="0">
                <a:ea typeface="+mn-lt"/>
                <a:cs typeface="+mn-lt"/>
              </a:rPr>
              <a:t> show periods of rapid price growth.</a:t>
            </a:r>
            <a:endParaRPr lang="en-US" sz="1200" dirty="0">
              <a:ea typeface="Meiryo"/>
            </a:endParaRPr>
          </a:p>
          <a:p>
            <a:pPr marL="285750" indent="-285750">
              <a:buFont typeface="Arial"/>
              <a:buChar char="•"/>
            </a:pPr>
            <a:r>
              <a:rPr lang="en-US" sz="1200" dirty="0">
                <a:ea typeface="+mn-lt"/>
                <a:cs typeface="+mn-lt"/>
              </a:rPr>
              <a:t>Sharp downward slopes</a:t>
            </a:r>
            <a:r>
              <a:rPr lang="en-US" sz="1200" b="0" dirty="0">
                <a:ea typeface="+mn-lt"/>
                <a:cs typeface="+mn-lt"/>
              </a:rPr>
              <a:t> indicate corrections or sell-offs.</a:t>
            </a:r>
            <a:endParaRPr lang="en-US" sz="1200" dirty="0">
              <a:ea typeface="Meiryo"/>
            </a:endParaRPr>
          </a:p>
          <a:p>
            <a:r>
              <a:rPr lang="en-US" sz="1200" b="0" dirty="0">
                <a:ea typeface="+mn-lt"/>
                <a:cs typeface="+mn-lt"/>
              </a:rPr>
              <a:t>The </a:t>
            </a:r>
            <a:r>
              <a:rPr lang="en-US" sz="1200" dirty="0">
                <a:ea typeface="+mn-lt"/>
                <a:cs typeface="+mn-lt"/>
              </a:rPr>
              <a:t>final values</a:t>
            </a:r>
            <a:r>
              <a:rPr lang="en-US" sz="1200" b="0" dirty="0">
                <a:ea typeface="+mn-lt"/>
                <a:cs typeface="+mn-lt"/>
              </a:rPr>
              <a:t> (annotated on the right side of the chart) show the </a:t>
            </a:r>
            <a:r>
              <a:rPr lang="en-US" sz="1200" dirty="0">
                <a:ea typeface="+mn-lt"/>
                <a:cs typeface="+mn-lt"/>
              </a:rPr>
              <a:t>total percentage change</a:t>
            </a:r>
            <a:r>
              <a:rPr lang="en-US" sz="1200" b="0" dirty="0">
                <a:ea typeface="+mn-lt"/>
                <a:cs typeface="+mn-lt"/>
              </a:rPr>
              <a:t> for each stock over the selected period. The company with the higher ending line (and larger positive percentage) has </a:t>
            </a:r>
            <a:r>
              <a:rPr lang="en-US" sz="1200" dirty="0">
                <a:ea typeface="+mn-lt"/>
                <a:cs typeface="+mn-lt"/>
              </a:rPr>
              <a:t>outperformed</a:t>
            </a:r>
            <a:r>
              <a:rPr lang="en-US" sz="1200" b="0" dirty="0">
                <a:ea typeface="+mn-lt"/>
                <a:cs typeface="+mn-lt"/>
              </a:rPr>
              <a:t> its peer in total return since early 2024.</a:t>
            </a:r>
            <a:endParaRPr lang="en-US" sz="1200" dirty="0">
              <a:ea typeface="Meiryo"/>
            </a:endParaRPr>
          </a:p>
          <a:p>
            <a:r>
              <a:rPr lang="en-US" sz="1200" b="0" dirty="0">
                <a:ea typeface="+mn-lt"/>
                <a:cs typeface="+mn-lt"/>
              </a:rPr>
              <a:t>Typically, Palantir (PLTR) exhibits higher volatility and stronger upward momentum due to its AI-driven business narrative and investor enthusiasm, while UiPath (PATH), though also AI-oriented, tends to trade more steadily as an enterprise automation software company.</a:t>
            </a:r>
            <a:endParaRPr lang="en-US" sz="1200" dirty="0">
              <a:ea typeface="Meiryo"/>
            </a:endParaRPr>
          </a:p>
          <a:p>
            <a:endParaRPr lang="en-US" sz="1200" dirty="0">
              <a:ea typeface="Meiryo"/>
            </a:endParaRPr>
          </a:p>
        </p:txBody>
      </p:sp>
      <p:pic>
        <p:nvPicPr>
          <p:cNvPr id="6" name="Picture 5" descr="Palantir Logo and symbol, meaning, history, PNG, brand">
            <a:extLst>
              <a:ext uri="{FF2B5EF4-FFF2-40B4-BE49-F238E27FC236}">
                <a16:creationId xmlns:a16="http://schemas.microsoft.com/office/drawing/2014/main" id="{E33A5C56-C04E-F4FA-1651-6482CD189967}"/>
              </a:ext>
            </a:extLst>
          </p:cNvPr>
          <p:cNvPicPr>
            <a:picLocks noChangeAspect="1"/>
          </p:cNvPicPr>
          <p:nvPr/>
        </p:nvPicPr>
        <p:blipFill>
          <a:blip r:embed="rId2"/>
          <a:stretch>
            <a:fillRect/>
          </a:stretch>
        </p:blipFill>
        <p:spPr>
          <a:xfrm>
            <a:off x="8480090" y="903250"/>
            <a:ext cx="3549777" cy="2001659"/>
          </a:xfrm>
          <a:prstGeom prst="rect">
            <a:avLst/>
          </a:prstGeom>
        </p:spPr>
      </p:pic>
      <p:pic>
        <p:nvPicPr>
          <p:cNvPr id="8" name="Picture 7" descr="A logo with red text&#10;&#10;AI-generated content may be incorrect.">
            <a:extLst>
              <a:ext uri="{FF2B5EF4-FFF2-40B4-BE49-F238E27FC236}">
                <a16:creationId xmlns:a16="http://schemas.microsoft.com/office/drawing/2014/main" id="{964CE705-0CDE-561B-4F3E-26FF3EC012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0111" y="3888506"/>
            <a:ext cx="3037588" cy="1687224"/>
          </a:xfrm>
          <a:prstGeom prst="rect">
            <a:avLst/>
          </a:prstGeom>
        </p:spPr>
      </p:pic>
    </p:spTree>
    <p:extLst>
      <p:ext uri="{BB962C8B-B14F-4D97-AF65-F5344CB8AC3E}">
        <p14:creationId xmlns:p14="http://schemas.microsoft.com/office/powerpoint/2010/main" val="3614855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AC4FB-4765-D67F-2BE8-BDC49221F68B}"/>
              </a:ext>
            </a:extLst>
          </p:cNvPr>
          <p:cNvSpPr>
            <a:spLocks noGrp="1"/>
          </p:cNvSpPr>
          <p:nvPr>
            <p:ph type="title"/>
          </p:nvPr>
        </p:nvSpPr>
        <p:spPr>
          <a:xfrm>
            <a:off x="195145" y="430165"/>
            <a:ext cx="3859746" cy="6014487"/>
          </a:xfrm>
        </p:spPr>
        <p:txBody>
          <a:bodyPr vert="horz" lIns="109728" tIns="109728" rIns="109728" bIns="91440" rtlCol="0" anchor="ctr">
            <a:noAutofit/>
          </a:bodyPr>
          <a:lstStyle/>
          <a:p>
            <a:r>
              <a:rPr lang="en-US" sz="1600" b="0" dirty="0">
                <a:ea typeface="+mj-lt"/>
                <a:cs typeface="+mj-lt"/>
              </a:rPr>
              <a:t>The chart suggests a </a:t>
            </a:r>
            <a:r>
              <a:rPr lang="en-US" sz="1600" dirty="0">
                <a:ea typeface="+mj-lt"/>
                <a:cs typeface="+mj-lt"/>
              </a:rPr>
              <a:t>moderate positive correlation</a:t>
            </a:r>
            <a:r>
              <a:rPr lang="en-US" sz="1600" b="0" dirty="0">
                <a:ea typeface="+mj-lt"/>
                <a:cs typeface="+mj-lt"/>
              </a:rPr>
              <a:t> between UiPath’s quarterly revenue growth and its stock returns during 2024–2025. In quarters with stronger revenue growth, stock performance tended to improve. However, deviations from the trendline highlight that other factors — such as market sentiment, guidance, or macro events — also influenced UiPath’s share price.</a:t>
            </a:r>
            <a:endParaRPr lang="en-US" sz="1600">
              <a:ea typeface="Meiryo"/>
            </a:endParaRPr>
          </a:p>
        </p:txBody>
      </p:sp>
      <p:pic>
        <p:nvPicPr>
          <p:cNvPr id="4" name="Content Placeholder 3" descr="A graph with a red line&#10;&#10;AI-generated content may be incorrect.">
            <a:extLst>
              <a:ext uri="{FF2B5EF4-FFF2-40B4-BE49-F238E27FC236}">
                <a16:creationId xmlns:a16="http://schemas.microsoft.com/office/drawing/2014/main" id="{5ABA9999-BE0E-2397-F5FD-DCAD914D6D11}"/>
              </a:ext>
            </a:extLst>
          </p:cNvPr>
          <p:cNvPicPr>
            <a:picLocks noGrp="1" noChangeAspect="1"/>
          </p:cNvPicPr>
          <p:nvPr>
            <p:ph idx="1"/>
          </p:nvPr>
        </p:nvPicPr>
        <p:blipFill>
          <a:blip r:embed="rId3"/>
          <a:stretch>
            <a:fillRect/>
          </a:stretch>
        </p:blipFill>
        <p:spPr>
          <a:xfrm>
            <a:off x="4269021" y="570406"/>
            <a:ext cx="7924225" cy="5466908"/>
          </a:xfrm>
          <a:prstGeom prst="rect">
            <a:avLst/>
          </a:prstGeom>
        </p:spPr>
      </p:pic>
    </p:spTree>
    <p:extLst>
      <p:ext uri="{BB962C8B-B14F-4D97-AF65-F5344CB8AC3E}">
        <p14:creationId xmlns:p14="http://schemas.microsoft.com/office/powerpoint/2010/main" val="3961132895"/>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568A2-0CF1-9721-E7F5-4BBE767A418D}"/>
              </a:ext>
            </a:extLst>
          </p:cNvPr>
          <p:cNvSpPr>
            <a:spLocks noGrp="1"/>
          </p:cNvSpPr>
          <p:nvPr>
            <p:ph type="title"/>
          </p:nvPr>
        </p:nvSpPr>
        <p:spPr>
          <a:xfrm>
            <a:off x="532939" y="288763"/>
            <a:ext cx="3553374" cy="6187311"/>
          </a:xfrm>
        </p:spPr>
        <p:txBody>
          <a:bodyPr>
            <a:noAutofit/>
          </a:bodyPr>
          <a:lstStyle/>
          <a:p>
            <a:r>
              <a:rPr lang="en-US" sz="1600" b="0" dirty="0">
                <a:ea typeface="+mj-lt"/>
                <a:cs typeface="+mj-lt"/>
              </a:rPr>
              <a:t>The time series shows the 30-day rolling annualized volatility (in percent) for UiPath (PATH) and Palantir (PLTR). Peaks indicate periods of large price swings (higher short-term risk). In this synthetic example, PLTR displays consistently higher volatility than PATH, which would imply larger average price movements and potentially higher risk/return.</a:t>
            </a:r>
            <a:endParaRPr lang="en-US" sz="1600" dirty="0">
              <a:ea typeface="Meiryo"/>
            </a:endParaRPr>
          </a:p>
        </p:txBody>
      </p:sp>
      <p:pic>
        <p:nvPicPr>
          <p:cNvPr id="4" name="Content Placeholder 3" descr="A graph of blue and orange lines&#10;&#10;AI-generated content may be incorrect.">
            <a:extLst>
              <a:ext uri="{FF2B5EF4-FFF2-40B4-BE49-F238E27FC236}">
                <a16:creationId xmlns:a16="http://schemas.microsoft.com/office/drawing/2014/main" id="{A7DC396D-3A50-ABCF-EF47-939F156DFDD5}"/>
              </a:ext>
            </a:extLst>
          </p:cNvPr>
          <p:cNvPicPr>
            <a:picLocks noGrp="1" noChangeAspect="1"/>
          </p:cNvPicPr>
          <p:nvPr>
            <p:ph idx="1"/>
          </p:nvPr>
        </p:nvPicPr>
        <p:blipFill>
          <a:blip r:embed="rId2"/>
          <a:stretch>
            <a:fillRect/>
          </a:stretch>
        </p:blipFill>
        <p:spPr>
          <a:xfrm>
            <a:off x="4677516" y="1593435"/>
            <a:ext cx="7515732" cy="3570111"/>
          </a:xfrm>
          <a:prstGeom prst="rect">
            <a:avLst/>
          </a:prstGeom>
        </p:spPr>
      </p:pic>
    </p:spTree>
    <p:extLst>
      <p:ext uri="{BB962C8B-B14F-4D97-AF65-F5344CB8AC3E}">
        <p14:creationId xmlns:p14="http://schemas.microsoft.com/office/powerpoint/2010/main" val="82698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3BE122-9BB1-52E8-336F-C6807C7B716C}"/>
              </a:ext>
            </a:extLst>
          </p:cNvPr>
          <p:cNvSpPr>
            <a:spLocks noGrp="1"/>
          </p:cNvSpPr>
          <p:nvPr>
            <p:ph idx="1"/>
          </p:nvPr>
        </p:nvSpPr>
        <p:spPr/>
        <p:txBody>
          <a:bodyPr>
            <a:normAutofit fontScale="85000" lnSpcReduction="20000"/>
          </a:bodyPr>
          <a:lstStyle/>
          <a:p>
            <a:pPr marL="285750" indent="-285750">
              <a:buFont typeface="Arial"/>
              <a:buChar char="•"/>
            </a:pPr>
            <a:r>
              <a:rPr lang="en-US" dirty="0">
                <a:ea typeface="+mn-lt"/>
                <a:cs typeface="+mn-lt"/>
              </a:rPr>
              <a:t>Positive events</a:t>
            </a:r>
            <a:r>
              <a:rPr lang="en-US" b="0" dirty="0">
                <a:ea typeface="+mn-lt"/>
                <a:cs typeface="+mn-lt"/>
              </a:rPr>
              <a:t> (e.g., strong growth, new partnerships, strategic positioning) tend to coincide with </a:t>
            </a:r>
            <a:r>
              <a:rPr lang="en-US" dirty="0">
                <a:ea typeface="+mn-lt"/>
                <a:cs typeface="+mn-lt"/>
              </a:rPr>
              <a:t>upward inflection points</a:t>
            </a:r>
            <a:r>
              <a:rPr lang="en-US" b="0" dirty="0">
                <a:ea typeface="+mn-lt"/>
                <a:cs typeface="+mn-lt"/>
              </a:rPr>
              <a:t> in the stock — investors see future potential and reward the company.</a:t>
            </a:r>
            <a:endParaRPr lang="en-US" dirty="0"/>
          </a:p>
          <a:p>
            <a:pPr marL="285750" indent="-285750">
              <a:buFont typeface="Arial"/>
              <a:buChar char="•"/>
            </a:pPr>
            <a:r>
              <a:rPr lang="en-US" dirty="0">
                <a:ea typeface="+mn-lt"/>
                <a:cs typeface="+mn-lt"/>
              </a:rPr>
              <a:t>Negative/uncertain events</a:t>
            </a:r>
            <a:r>
              <a:rPr lang="en-US" b="0" dirty="0">
                <a:ea typeface="+mn-lt"/>
                <a:cs typeface="+mn-lt"/>
              </a:rPr>
              <a:t> (e.g., slowing growth, weak guidance, macro headwinds) often precede </a:t>
            </a:r>
            <a:r>
              <a:rPr lang="en-US" dirty="0">
                <a:ea typeface="+mn-lt"/>
                <a:cs typeface="+mn-lt"/>
              </a:rPr>
              <a:t>pullbacks or volatility spikes</a:t>
            </a:r>
            <a:r>
              <a:rPr lang="en-US" b="0" dirty="0">
                <a:ea typeface="+mn-lt"/>
                <a:cs typeface="+mn-lt"/>
              </a:rPr>
              <a:t> — as perception shifts from growth to risk.</a:t>
            </a:r>
            <a:endParaRPr lang="en-US" dirty="0"/>
          </a:p>
          <a:p>
            <a:pPr marL="285750" indent="-285750">
              <a:buFont typeface="Arial"/>
              <a:buChar char="•"/>
            </a:pPr>
            <a:r>
              <a:rPr lang="en-US" b="0" dirty="0">
                <a:ea typeface="+mn-lt"/>
                <a:cs typeface="+mn-lt"/>
              </a:rPr>
              <a:t>Because </a:t>
            </a:r>
            <a:r>
              <a:rPr lang="en-US" dirty="0">
                <a:ea typeface="+mn-lt"/>
                <a:cs typeface="+mn-lt"/>
              </a:rPr>
              <a:t>UiPath</a:t>
            </a:r>
            <a:r>
              <a:rPr lang="en-US" b="0" dirty="0">
                <a:ea typeface="+mn-lt"/>
                <a:cs typeface="+mn-lt"/>
              </a:rPr>
              <a:t> is a growth stock, the market is sensitive not just to actual results but to </a:t>
            </a:r>
            <a:r>
              <a:rPr lang="en-US" dirty="0">
                <a:ea typeface="+mn-lt"/>
                <a:cs typeface="+mn-lt"/>
              </a:rPr>
              <a:t>expectations and forward guidance</a:t>
            </a:r>
            <a:r>
              <a:rPr lang="en-US" b="0" dirty="0">
                <a:ea typeface="+mn-lt"/>
                <a:cs typeface="+mn-lt"/>
              </a:rPr>
              <a:t>. A strong partnership might boost sentiment, but if growth slows nonetheless, the stock may not respond positively.</a:t>
            </a:r>
            <a:endParaRPr lang="en-US" dirty="0"/>
          </a:p>
          <a:p>
            <a:endParaRPr lang="en-US" dirty="0">
              <a:ea typeface="Meiryo"/>
            </a:endParaRPr>
          </a:p>
        </p:txBody>
      </p:sp>
      <p:pic>
        <p:nvPicPr>
          <p:cNvPr id="5" name="Picture 4" descr="A cartoon character wearing goggles and a helmet&#10;&#10;AI-generated content may be incorrect.">
            <a:extLst>
              <a:ext uri="{FF2B5EF4-FFF2-40B4-BE49-F238E27FC236}">
                <a16:creationId xmlns:a16="http://schemas.microsoft.com/office/drawing/2014/main" id="{BFE38E2C-F5B3-E0F5-F4AB-8110D6DF2D6F}"/>
              </a:ext>
            </a:extLst>
          </p:cNvPr>
          <p:cNvPicPr>
            <a:picLocks noChangeAspect="1"/>
          </p:cNvPicPr>
          <p:nvPr/>
        </p:nvPicPr>
        <p:blipFill>
          <a:blip r:embed="rId3"/>
          <a:stretch>
            <a:fillRect/>
          </a:stretch>
        </p:blipFill>
        <p:spPr>
          <a:xfrm>
            <a:off x="8603824" y="2030985"/>
            <a:ext cx="3295650" cy="2686050"/>
          </a:xfrm>
          <a:prstGeom prst="rect">
            <a:avLst/>
          </a:prstGeom>
        </p:spPr>
      </p:pic>
    </p:spTree>
    <p:extLst>
      <p:ext uri="{BB962C8B-B14F-4D97-AF65-F5344CB8AC3E}">
        <p14:creationId xmlns:p14="http://schemas.microsoft.com/office/powerpoint/2010/main" val="1804394813"/>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838B7-7F0A-1C92-D733-E7A9938A41D6}"/>
              </a:ext>
            </a:extLst>
          </p:cNvPr>
          <p:cNvSpPr>
            <a:spLocks noGrp="1"/>
          </p:cNvSpPr>
          <p:nvPr>
            <p:ph type="title"/>
          </p:nvPr>
        </p:nvSpPr>
        <p:spPr/>
        <p:txBody>
          <a:bodyPr/>
          <a:lstStyle/>
          <a:p>
            <a:r>
              <a:rPr lang="en-US" dirty="0">
                <a:ea typeface="Meiryo"/>
              </a:rPr>
              <a:t>Thank you for attention!</a:t>
            </a:r>
            <a:endParaRPr lang="en-US" dirty="0"/>
          </a:p>
        </p:txBody>
      </p:sp>
    </p:spTree>
    <p:extLst>
      <p:ext uri="{BB962C8B-B14F-4D97-AF65-F5344CB8AC3E}">
        <p14:creationId xmlns:p14="http://schemas.microsoft.com/office/powerpoint/2010/main" val="991307125"/>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4e025ed-8107-4c55-b667-fc995ea4ad6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0FEB3C8B3B396438E690BAD8EA72F3C" ma:contentTypeVersion="5" ma:contentTypeDescription="Create a new document." ma:contentTypeScope="" ma:versionID="fb179113c45968f24b09b9d01143fd7b">
  <xsd:schema xmlns:xsd="http://www.w3.org/2001/XMLSchema" xmlns:xs="http://www.w3.org/2001/XMLSchema" xmlns:p="http://schemas.microsoft.com/office/2006/metadata/properties" xmlns:ns3="94e025ed-8107-4c55-b667-fc995ea4ad69" targetNamespace="http://schemas.microsoft.com/office/2006/metadata/properties" ma:root="true" ma:fieldsID="888c00da3460a7594de38c97d80ca79f" ns3:_="">
    <xsd:import namespace="94e025ed-8107-4c55-b667-fc995ea4ad6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e025ed-8107-4c55-b667-fc995ea4ad6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82F756-845E-45B5-A0C7-12FDE669A2AC}">
  <ds:schemaRefs>
    <ds:schemaRef ds:uri="http://schemas.openxmlformats.org/package/2006/metadata/core-properties"/>
    <ds:schemaRef ds:uri="http://www.w3.org/XML/1998/namespace"/>
    <ds:schemaRef ds:uri="http://schemas.microsoft.com/office/2006/documentManagement/types"/>
    <ds:schemaRef ds:uri="http://purl.org/dc/terms/"/>
    <ds:schemaRef ds:uri="94e025ed-8107-4c55-b667-fc995ea4ad69"/>
    <ds:schemaRef ds:uri="http://purl.org/dc/elements/1.1/"/>
    <ds:schemaRef ds:uri="http://schemas.microsoft.com/office/infopath/2007/PartnerControl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BD50AE6A-8C6C-462F-B4BF-6151F2EF3A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4e025ed-8107-4c55-b667-fc995ea4ad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053465C-9533-4543-8C3F-A613ED76504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86</TotalTime>
  <Words>1196</Words>
  <Application>Microsoft Office PowerPoint</Application>
  <PresentationFormat>Widescreen</PresentationFormat>
  <Paragraphs>66</Paragraphs>
  <Slides>16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Meiryo</vt:lpstr>
      <vt:lpstr>Arial</vt:lpstr>
      <vt:lpstr>Calibri</vt:lpstr>
      <vt:lpstr>Corbel</vt:lpstr>
      <vt:lpstr>ShojiVTI</vt:lpstr>
      <vt:lpstr>UiPath stock price analysis 2024-2025</vt:lpstr>
      <vt:lpstr>1. Introduction Literature review, Research Question &amp; Methodology</vt:lpstr>
      <vt:lpstr>We found extensive research showing that Uipath’s growth and stock performance are strongly influenced by broader market trends and investor sentiment toward automation and AI technologies.   In its early years, rapid revenue growth and innovation played a key role in boosting investor confidence. However, after reaching a certain level of market maturity, other factors became more relevant—such as profitability, competition, and long-term sustainability. As the automation industry evolves, uipath’s valuation depends less on short-term hype and more on its ability to maintain consistent growth, efficiency, and leadership in the ai-driven enterprise software sector.</vt:lpstr>
      <vt:lpstr>The fastest growing enterprise software company ever</vt:lpstr>
      <vt:lpstr>Sales and marketing expenses</vt:lpstr>
      <vt:lpstr>Automation at Scale: Tracking UiPath’s Revenue Evolution </vt:lpstr>
      <vt:lpstr>Automation at Scale: Tracking UiPath’s Revenue Evolution </vt:lpstr>
      <vt:lpstr>Stock data from Yahoo Finance was used for quantitative analysis. The dataset includes UiPath (PATH) and Palantir (PLTR) between 2024–2025. Data was collected and analyzed in Python using yfinance, pandas, matplotlib, and statsmodels.</vt:lpstr>
      <vt:lpstr>We used Spyder to analyze the data</vt:lpstr>
      <vt:lpstr>2. Findings</vt:lpstr>
      <vt:lpstr>PowerPoint Presentation</vt:lpstr>
      <vt:lpstr>PowerPoint Presentation</vt:lpstr>
      <vt:lpstr>The chart suggests a moderate positive correlation between UiPath’s quarterly revenue growth and its stock returns during 2024–2025. In quarters with stronger revenue growth, stock performance tended to improve. However, deviations from the trendline highlight that other factors — such as market sentiment, guidance, or macro events — also influenced UiPath’s share price.</vt:lpstr>
      <vt:lpstr>The time series shows the 30-day rolling annualized volatility (in percent) for UiPath (PATH) and Palantir (PLTR). Peaks indicate periods of large price swings (higher short-term risk). In this synthetic example, PLTR displays consistently higher volatility than PATH, which would imply larger average price movements and potentially higher risk/return.</vt:lpstr>
      <vt:lpstr>PowerPoint Presentation</vt:lpstr>
      <vt:lpstr>Thank you for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UiPath stock price analysis in 2024</dc:title>
  <dc:creator>Nemerenco I Ana</dc:creator>
  <cp:lastModifiedBy>Denisa Elena Gheorghita</cp:lastModifiedBy>
  <cp:revision>223</cp:revision>
  <dcterms:created xsi:type="dcterms:W3CDTF">2025-11-10T18:11:06Z</dcterms:created>
  <dcterms:modified xsi:type="dcterms:W3CDTF">2025-11-13T08:19:36Z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0x01010020FEB3C8B3B396438E690BAD8EA72F3C</vt:lpwstr>
  </property>
</Properties>
</file>